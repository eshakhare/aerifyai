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5143500" cx="9144000"/>
  <p:notesSz cx="6858000" cy="9144000"/>
  <p:embeddedFontLst>
    <p:embeddedFont>
      <p:font typeface="Google Sans Flex Medium"/>
      <p:regular r:id="rId22"/>
      <p:bold r:id="rId23"/>
    </p:embeddedFont>
    <p:embeddedFont>
      <p:font typeface="Google Sans Flex"/>
      <p:regular r:id="rId24"/>
      <p:bold r:id="rId25"/>
    </p:embeddedFont>
    <p:embeddedFont>
      <p:font typeface="Google Sans Flex SemiBold"/>
      <p:regular r:id="rId26"/>
      <p:bold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font" Target="fonts/GoogleSansFlexMedium-regular.fntdata"/><Relationship Id="rId23" Type="http://schemas.openxmlformats.org/officeDocument/2006/relationships/font" Target="fonts/GoogleSansFlexMedium-bold.fntdata"/><Relationship Id="rId24" Type="http://schemas.openxmlformats.org/officeDocument/2006/relationships/font" Target="fonts/GoogleSansFlex-regular.fntdata"/><Relationship Id="rId25" Type="http://schemas.openxmlformats.org/officeDocument/2006/relationships/font" Target="fonts/GoogleSansFlex-bold.fntdata"/><Relationship Id="rId26" Type="http://schemas.openxmlformats.org/officeDocument/2006/relationships/font" Target="fonts/GoogleSansFlexSemiBold-regular.fntdata"/><Relationship Id="rId27" Type="http://schemas.openxmlformats.org/officeDocument/2006/relationships/font" Target="fonts/GoogleSansFlexSemiBold-bold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fb085bff3c_0_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fb085bff3c_0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fb085bff3c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fb085bff3c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fb085bff3c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fb085bff3c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b085bff3c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fb085bff3c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fb085bff3c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fb085bff3c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fb085bff3c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fb085bff3c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fb085bff3c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fb085bff3c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fb085bff3c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fb085bff3c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fb085bff3c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fb085bff3c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fb085bff3c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fb085bff3c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fb085bff3c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fb085bff3c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fb085bff3c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fb085bff3c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fb085bff3c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fb085bff3c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fb085bff3c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fb085bff3c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fb085bff3c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fb085bff3c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450000" y="2800000"/>
            <a:ext cx="8244000" cy="2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800"/>
              </a:spcAft>
              <a:buNone/>
              <a:defRPr sz="2200" b="1">
                <a:solidFill>
                  <a:srgbClr val="FFFFFF"/>
                </a:solidFill>
                <a:latin typeface="Google Sans"/>
              </a:defRPr>
            </a:pPr>
            <a:r>
              <a:t>Team Details</a:t>
            </a:r>
            <a:endParaRPr sz="2100">
              <a:latin typeface="Google Sans Flex SemiBold"/>
              <a:ea typeface="Google Sans Flex SemiBold"/>
              <a:cs typeface="Google Sans Flex SemiBold"/>
              <a:sym typeface="Google Sans Flex SemiBold"/>
            </a:endParaRP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9AA0A6"/>
                </a:solidFill>
                <a:latin typeface="Google Sans"/>
              </a:rPr>
              <a:t>Team Name: </a:t>
            </a:r>
            <a:r>
              <a:rPr sz="1300" b="1">
                <a:solidFill>
                  <a:srgbClr val="FFFFFF"/>
                </a:solidFill>
                <a:latin typeface="Google Sans"/>
              </a:rPr>
              <a:t>Orions          </a:t>
            </a:r>
            <a:r>
              <a:rPr sz="1300" b="1">
                <a:solidFill>
                  <a:srgbClr val="9AA0A6"/>
                </a:solidFill>
                <a:latin typeface="Google Sans"/>
              </a:rPr>
              <a:t>Team Leader: </a:t>
            </a:r>
            <a:r>
              <a:rPr sz="1300" b="1">
                <a:solidFill>
                  <a:srgbClr val="FFFFFF"/>
                </a:solidFill>
                <a:latin typeface="Google Sans"/>
              </a:rPr>
              <a:t>Esha Khare          </a:t>
            </a:r>
            <a:r>
              <a:rPr sz="1300" b="1">
                <a:solidFill>
                  <a:srgbClr val="9AA0A6"/>
                </a:solidFill>
                <a:latin typeface="Google Sans"/>
              </a:rPr>
              <a:t>Track: </a:t>
            </a:r>
            <a:r>
              <a:rPr sz="1300" b="1">
                <a:solidFill>
                  <a:srgbClr val="8AB4F8"/>
                </a:solidFill>
                <a:latin typeface="Google Sans"/>
              </a:rPr>
              <a:t>Sustainability &amp; Social Impact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9AA0A6"/>
                </a:solidFill>
                <a:latin typeface="Google Sans"/>
              </a:rPr>
              <a:t>Problem Statement: </a:t>
            </a:r>
            <a:r>
              <a:rPr sz="1150">
                <a:solidFill>
                  <a:srgbClr val="E8EAED"/>
                </a:solidFill>
                <a:latin typeface="Google Sans"/>
              </a:rPr>
              <a:t>Empirical Clean Air Action Verification &amp; Hyper-Local Civic Protection Platform — Scientifically proving the causal impact of municipal environmental interventions using 500m satellite telemetry, Difference-in-Differences (DiD) evaluation, and Vertex AI.</a:t>
            </a:r>
          </a:p>
          <a:p>
            <a:r>
              <a:rPr sz="1000" b="1">
                <a:solidFill>
                  <a:srgbClr val="80868B"/>
                </a:solidFill>
                <a:latin typeface="Google Sans"/>
              </a:rPr>
              <a:t>Team Members: </a:t>
            </a:r>
            <a:r>
              <a:rPr sz="1000">
                <a:solidFill>
                  <a:srgbClr val="BDC1C6"/>
                </a:solidFill>
                <a:latin typeface="Google Sans"/>
              </a:rPr>
              <a:t>Preeti Kumari   •   Sanjeev Gunasekaran   •   Rahul Sharma</a:t>
            </a:r>
          </a:p>
        </p:txBody>
      </p:sp>
      <p:pic>
        <p:nvPicPr>
          <p:cNvPr id="55" name="Google Shape;55;p13" title="Frame 14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3"/>
            <a:ext cx="9144000" cy="2715526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13" title="Frame 144.png"/>
          <p:cNvPicPr preferRelativeResize="0"/>
          <p:nvPr/>
        </p:nvPicPr>
        <p:blipFill rotWithShape="1">
          <a:blip r:embed="rId4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61;p14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4"/>
          <p:cNvSpPr txBox="1"/>
          <p:nvPr/>
        </p:nvSpPr>
        <p:spPr>
          <a:xfrm>
            <a:off x="5092475" y="1968750"/>
            <a:ext cx="3311400" cy="120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lt1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Note:</a:t>
            </a:r>
            <a:r>
              <a:rPr lang="en-GB" sz="11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 Please download this template to make your edits and submit the final version.</a:t>
            </a:r>
            <a:br>
              <a:rPr lang="en-GB" sz="11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</a:br>
            <a:br>
              <a:rPr lang="en-GB" sz="11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</a:br>
            <a:r>
              <a:rPr lang="en-GB" sz="11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To download, go to File &gt; Download &gt; Microsoft PowerPoint (.PPTX). Kindly refrain from sending edit requests.</a:t>
            </a:r>
            <a:endParaRPr sz="1100">
              <a:solidFill>
                <a:schemeClr val="lt1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</p:txBody>
      </p:sp>
      <p:pic>
        <p:nvPicPr>
          <p:cNvPr id="64" name="Google Shape;64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24203" y="1194675"/>
            <a:ext cx="3604250" cy="2621725"/>
          </a:xfrm>
          <a:prstGeom prst="rect">
            <a:avLst/>
          </a:prstGeom>
          <a:noFill/>
          <a:ln>
            <a:noFill/>
          </a:ln>
          <a:effectLst>
            <a:outerShdw blurRad="971550" rotWithShape="0" algn="bl" dir="5400000" dist="19050">
              <a:schemeClr val="lt1">
                <a:alpha val="50000"/>
              </a:schemeClr>
            </a:outerShdw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5" title="Group 42731997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5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5"/>
          <p:cNvSpPr txBox="1"/>
          <p:nvPr/>
        </p:nvSpPr>
        <p:spPr>
          <a:xfrm>
            <a:off x="400000" y="560000"/>
            <a:ext cx="8344000" cy="6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  <a:defRPr sz="2100" b="1">
                <a:solidFill>
                  <a:srgbClr val="0F172A"/>
                </a:solidFill>
                <a:latin typeface="Google Sans"/>
              </a:defRPr>
            </a:pPr>
            <a:r>
              <a:t>Brief about the idea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>
              <a:defRPr sz="850" b="1">
                <a:solidFill>
                  <a:srgbClr val="64748B"/>
                </a:solidFill>
                <a:latin typeface="Google Sans"/>
              </a:defRPr>
            </a:pPr>
            <a:r>
              <a:t>EXECUTIVE SUMMARY &amp; NATIONAL PLATFORM SCOPE</a:t>
            </a:r>
          </a:p>
        </p:txBody>
      </p:sp>
      <p:sp>
        <p:nvSpPr>
          <p:cNvPr id="72" name="Rectangle 71"/>
          <p:cNvSpPr/>
          <p:nvPr/>
        </p:nvSpPr>
        <p:spPr>
          <a:xfrm>
            <a:off x="0" y="507359"/>
            <a:ext cx="9144000" cy="4636141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ounded Rectangle 72"/>
          <p:cNvSpPr/>
          <p:nvPr/>
        </p:nvSpPr>
        <p:spPr>
          <a:xfrm>
            <a:off x="400000" y="1260000"/>
            <a:ext cx="2648000" cy="3380000"/>
          </a:xfrm>
          <a:prstGeom prst="roundRect">
            <a:avLst/>
          </a:prstGeom>
          <a:solidFill>
            <a:srgbClr val="FEFCE8"/>
          </a:solidFill>
          <a:ln w="22225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9700" tIns="139700" rIns="139700" bIns="101600"/>
          <a:lstStyle/>
          <a:p>
            <a:pPr algn="ctr">
              <a:spcAft>
                <a:spcPts val="200"/>
              </a:spcAft>
              <a:defRPr sz="850" b="1">
                <a:solidFill>
                  <a:srgbClr val="B45309"/>
                </a:solidFill>
                <a:latin typeface="Google Sans"/>
              </a:defRPr>
            </a:pPr>
            <a:r>
              <a:t>⚠️  01 // THE PROBLEM</a:t>
            </a:r>
          </a:p>
          <a:p>
            <a:pPr>
              <a:spcAft>
                <a:spcPts val="600"/>
              </a:spcAft>
              <a:defRPr sz="1250" b="1">
                <a:solidFill>
                  <a:srgbClr val="0F172A"/>
                </a:solidFill>
                <a:latin typeface="Google Sans"/>
              </a:defRPr>
            </a:pPr>
            <a:r>
              <a:t>Urban Smog &amp; Zero Proof</a:t>
            </a:r>
          </a:p>
          <a:p>
            <a:pPr>
              <a:spcAft>
                <a:spcPts val="400"/>
              </a:spcAft>
            </a:pPr>
            <a:r>
              <a:rPr sz="900" b="1">
                <a:solidFill>
                  <a:srgbClr val="F59E0B"/>
                </a:solidFill>
                <a:latin typeface="Google Sans"/>
              </a:rPr>
              <a:t>• </a:t>
            </a:r>
            <a:r>
              <a:rPr sz="880" b="1">
                <a:solidFill>
                  <a:srgbClr val="1E293B"/>
                </a:solidFill>
                <a:latin typeface="Google Sans"/>
              </a:rPr>
              <a:t>Station Blind Spots: </a:t>
            </a:r>
            <a:r>
              <a:rPr sz="880">
                <a:solidFill>
                  <a:srgbClr val="475569"/>
                </a:solidFill>
                <a:latin typeface="Google Sans"/>
              </a:rPr>
              <a:t>Only ~40 towers for 30M+ people; vast neighborhoods unmonitored.</a:t>
            </a:r>
          </a:p>
          <a:p>
            <a:pPr>
              <a:spcAft>
                <a:spcPts val="400"/>
              </a:spcAft>
            </a:pPr>
            <a:r>
              <a:rPr sz="900" b="1">
                <a:solidFill>
                  <a:srgbClr val="F59E0B"/>
                </a:solidFill>
                <a:latin typeface="Google Sans"/>
              </a:rPr>
              <a:t>• </a:t>
            </a:r>
            <a:r>
              <a:rPr sz="880" b="1">
                <a:solidFill>
                  <a:srgbClr val="1E293B"/>
                </a:solidFill>
                <a:latin typeface="Google Sans"/>
              </a:rPr>
              <a:t>Unverified Spending: </a:t>
            </a:r>
            <a:r>
              <a:rPr sz="880">
                <a:solidFill>
                  <a:srgbClr val="475569"/>
                </a:solidFill>
                <a:latin typeface="Google Sans"/>
              </a:rPr>
              <a:t>Crores spent on sprinklers with zero proof of actual impact.</a:t>
            </a:r>
          </a:p>
          <a:p>
            <a:pPr>
              <a:spcAft>
                <a:spcPts val="400"/>
              </a:spcAft>
            </a:pPr>
            <a:r>
              <a:rPr sz="900" b="1">
                <a:solidFill>
                  <a:srgbClr val="F59E0B"/>
                </a:solidFill>
                <a:latin typeface="Google Sans"/>
              </a:rPr>
              <a:t>• </a:t>
            </a:r>
            <a:r>
              <a:rPr sz="880" b="1">
                <a:solidFill>
                  <a:srgbClr val="1E293B"/>
                </a:solidFill>
                <a:latin typeface="Google Sans"/>
              </a:rPr>
              <a:t>Weather Confusion: </a:t>
            </a:r>
            <a:r>
              <a:rPr sz="880">
                <a:solidFill>
                  <a:srgbClr val="475569"/>
                </a:solidFill>
                <a:latin typeface="Google Sans"/>
              </a:rPr>
              <a:t>Cannot separate clean-up results from ambient wind or rain shifts.</a:t>
            </a:r>
          </a:p>
          <a:p>
            <a:pPr>
              <a:spcAft>
                <a:spcPts val="400"/>
              </a:spcAft>
            </a:pPr>
            <a:r>
              <a:rPr sz="900" b="1">
                <a:solidFill>
                  <a:srgbClr val="F59E0B"/>
                </a:solidFill>
                <a:latin typeface="Google Sans"/>
              </a:rPr>
              <a:t>• </a:t>
            </a:r>
            <a:r>
              <a:rPr sz="880" b="1">
                <a:solidFill>
                  <a:srgbClr val="1E293B"/>
                </a:solidFill>
                <a:latin typeface="Google Sans"/>
              </a:rPr>
              <a:t>Short-Lived Impact: </a:t>
            </a:r>
            <a:r>
              <a:rPr sz="880">
                <a:solidFill>
                  <a:srgbClr val="475569"/>
                </a:solidFill>
                <a:latin typeface="Google Sans"/>
              </a:rPr>
              <a:t>No tracking to measure how quickly pollution rebounds after action.</a:t>
            </a:r>
          </a:p>
          <a:p>
            <a:pPr>
              <a:spcAft>
                <a:spcPts val="400"/>
              </a:spcAft>
            </a:pPr>
            <a:r>
              <a:rPr sz="900" b="1">
                <a:solidFill>
                  <a:srgbClr val="F59E0B"/>
                </a:solidFill>
                <a:latin typeface="Google Sans"/>
              </a:rPr>
              <a:t>• </a:t>
            </a:r>
            <a:r>
              <a:rPr sz="880" b="1">
                <a:solidFill>
                  <a:srgbClr val="1E293B"/>
                </a:solidFill>
                <a:latin typeface="Google Sans"/>
              </a:rPr>
              <a:t>Zero Civic Proof: </a:t>
            </a:r>
            <a:r>
              <a:rPr sz="880">
                <a:solidFill>
                  <a:srgbClr val="475569"/>
                </a:solidFill>
                <a:latin typeface="Google Sans"/>
              </a:rPr>
              <a:t>Citizens see scary alerts with no visibility into local municipal work.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3248000" y="1260000"/>
            <a:ext cx="2648000" cy="3380000"/>
          </a:xfrm>
          <a:prstGeom prst="roundRect">
            <a:avLst/>
          </a:prstGeom>
          <a:solidFill>
            <a:srgbClr val="F0F7FF"/>
          </a:solidFill>
          <a:ln w="28575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9700" tIns="139700" rIns="139700" bIns="101600"/>
          <a:lstStyle/>
          <a:p>
            <a:pPr algn="ctr">
              <a:spcAft>
                <a:spcPts val="200"/>
              </a:spcAft>
              <a:defRPr sz="850" b="1">
                <a:solidFill>
                  <a:srgbClr val="1A73E8"/>
                </a:solidFill>
                <a:latin typeface="Google Sans"/>
              </a:defRPr>
            </a:pPr>
            <a:r>
              <a:t>🌐  02 // THE SOLUTION (HERO)</a:t>
            </a:r>
          </a:p>
          <a:p>
            <a:pPr>
              <a:spcAft>
                <a:spcPts val="600"/>
              </a:spcAft>
              <a:defRPr sz="1250" b="1">
                <a:solidFill>
                  <a:srgbClr val="0F172A"/>
                </a:solidFill>
                <a:latin typeface="Google Sans"/>
              </a:defRPr>
            </a:pPr>
            <a:r>
              <a:t>Action-Driven Platform</a:t>
            </a:r>
          </a:p>
          <a:p>
            <a:pPr>
              <a:spcAft>
                <a:spcPts val="400"/>
              </a:spcAft>
            </a:pPr>
            <a:r>
              <a:rPr sz="900" b="1">
                <a:solidFill>
                  <a:srgbClr val="4285F4"/>
                </a:solidFill>
                <a:latin typeface="Google Sans"/>
              </a:rPr>
              <a:t>• </a:t>
            </a:r>
            <a:r>
              <a:rPr sz="880" b="1">
                <a:solidFill>
                  <a:srgbClr val="1E293B"/>
                </a:solidFill>
                <a:latin typeface="Google Sans"/>
              </a:rPr>
              <a:t>Continuous 500m Grid: </a:t>
            </a:r>
            <a:r>
              <a:rPr sz="880">
                <a:solidFill>
                  <a:srgbClr val="475569"/>
                </a:solidFill>
                <a:latin typeface="Google Sans"/>
              </a:rPr>
              <a:t>Google satellite telemetry covers every street &amp; ward continuously.</a:t>
            </a:r>
          </a:p>
          <a:p>
            <a:pPr>
              <a:spcAft>
                <a:spcPts val="400"/>
              </a:spcAft>
            </a:pPr>
            <a:r>
              <a:rPr sz="900" b="1">
                <a:solidFill>
                  <a:srgbClr val="4285F4"/>
                </a:solidFill>
                <a:latin typeface="Google Sans"/>
              </a:rPr>
              <a:t>• </a:t>
            </a:r>
            <a:r>
              <a:rPr sz="880" b="1">
                <a:solidFill>
                  <a:srgbClr val="1E293B"/>
                </a:solidFill>
                <a:latin typeface="Google Sans"/>
              </a:rPr>
              <a:t>Measures Unmeasured Tasks: </a:t>
            </a:r>
            <a:r>
              <a:rPr sz="880">
                <a:solidFill>
                  <a:srgbClr val="475569"/>
                </a:solidFill>
                <a:latin typeface="Google Sans"/>
              </a:rPr>
              <a:t>Calculates exact before/after AQI drop for every field action.</a:t>
            </a:r>
          </a:p>
          <a:p>
            <a:pPr>
              <a:spcAft>
                <a:spcPts val="400"/>
              </a:spcAft>
            </a:pPr>
            <a:r>
              <a:rPr sz="900" b="1">
                <a:solidFill>
                  <a:srgbClr val="4285F4"/>
                </a:solidFill>
                <a:latin typeface="Google Sans"/>
              </a:rPr>
              <a:t>• </a:t>
            </a:r>
            <a:r>
              <a:rPr sz="880" b="1">
                <a:solidFill>
                  <a:srgbClr val="1E293B"/>
                </a:solidFill>
                <a:latin typeface="Google Sans"/>
              </a:rPr>
              <a:t>Causal DiD Engine: </a:t>
            </a:r>
            <a:r>
              <a:rPr sz="880">
                <a:solidFill>
                  <a:srgbClr val="475569"/>
                </a:solidFill>
                <a:latin typeface="Google Sans"/>
              </a:rPr>
              <a:t>Compares cleaned vs. untouched spots to eliminate weather bias.</a:t>
            </a:r>
          </a:p>
          <a:p>
            <a:pPr>
              <a:spcAft>
                <a:spcPts val="400"/>
              </a:spcAft>
            </a:pPr>
            <a:r>
              <a:rPr sz="900" b="1">
                <a:solidFill>
                  <a:srgbClr val="4285F4"/>
                </a:solidFill>
                <a:latin typeface="Google Sans"/>
              </a:rPr>
              <a:t>• </a:t>
            </a:r>
            <a:r>
              <a:rPr sz="880" b="1">
                <a:solidFill>
                  <a:srgbClr val="1E293B"/>
                </a:solidFill>
                <a:latin typeface="Google Sans"/>
              </a:rPr>
              <a:t>4-Timed Checkpoints: </a:t>
            </a:r>
            <a:r>
              <a:rPr sz="880">
                <a:solidFill>
                  <a:srgbClr val="475569"/>
                </a:solidFill>
                <a:latin typeface="Google Sans"/>
              </a:rPr>
              <a:t>Auto-samples air at +15s, +3h, +6h, +24h (configurable to 3 days).</a:t>
            </a:r>
          </a:p>
          <a:p>
            <a:pPr>
              <a:spcAft>
                <a:spcPts val="400"/>
              </a:spcAft>
            </a:pPr>
            <a:r>
              <a:rPr sz="900" b="1">
                <a:solidFill>
                  <a:srgbClr val="4285F4"/>
                </a:solidFill>
                <a:latin typeface="Google Sans"/>
              </a:rPr>
              <a:t>• </a:t>
            </a:r>
            <a:r>
              <a:rPr sz="880" b="1">
                <a:solidFill>
                  <a:srgbClr val="1E293B"/>
                </a:solidFill>
                <a:latin typeface="Google Sans"/>
              </a:rPr>
              <a:t>Public Verification Ledger: </a:t>
            </a:r>
            <a:r>
              <a:rPr sz="880">
                <a:solidFill>
                  <a:srgbClr val="475569"/>
                </a:solidFill>
                <a:latin typeface="Google Sans"/>
              </a:rPr>
              <a:t>Publishes transparent neighborhood proof to restore civic trust.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6096000" y="1260000"/>
            <a:ext cx="2648000" cy="3380000"/>
          </a:xfrm>
          <a:prstGeom prst="roundRect">
            <a:avLst/>
          </a:prstGeom>
          <a:solidFill>
            <a:srgbClr val="F0FDF4"/>
          </a:solidFill>
          <a:ln w="22225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9700" tIns="139700" rIns="139700" bIns="101600"/>
          <a:lstStyle/>
          <a:p>
            <a:pPr algn="ctr">
              <a:spcAft>
                <a:spcPts val="200"/>
              </a:spcAft>
              <a:defRPr sz="850" b="1">
                <a:solidFill>
                  <a:srgbClr val="15803D"/>
                </a:solidFill>
                <a:latin typeface="Google Sans"/>
              </a:defRPr>
            </a:pPr>
            <a:r>
              <a:t>👥  03 // TARGET AUDIENCE</a:t>
            </a:r>
          </a:p>
          <a:p>
            <a:pPr>
              <a:spcAft>
                <a:spcPts val="600"/>
              </a:spcAft>
              <a:defRPr sz="1250" b="1">
                <a:solidFill>
                  <a:srgbClr val="0F172A"/>
                </a:solidFill>
                <a:latin typeface="Google Sans"/>
              </a:defRPr>
            </a:pPr>
            <a:r>
              <a:t>Citizens, Officers &amp; Cities</a:t>
            </a:r>
          </a:p>
          <a:p>
            <a:pPr>
              <a:spcAft>
                <a:spcPts val="400"/>
              </a:spcAft>
            </a:pPr>
            <a:r>
              <a:rPr sz="900" b="1">
                <a:solidFill>
                  <a:srgbClr val="34A853"/>
                </a:solidFill>
                <a:latin typeface="Google Sans"/>
              </a:rPr>
              <a:t>• </a:t>
            </a:r>
            <a:r>
              <a:rPr sz="880" b="1">
                <a:solidFill>
                  <a:srgbClr val="1E293B"/>
                </a:solidFill>
                <a:latin typeface="Google Sans"/>
              </a:rPr>
              <a:t>General Public (No Login): </a:t>
            </a:r>
            <a:r>
              <a:rPr sz="880">
                <a:solidFill>
                  <a:srgbClr val="475569"/>
                </a:solidFill>
                <a:latin typeface="Google Sans"/>
              </a:rPr>
              <a:t>Live street AQI, pollen risk, and state directives (Odd-Even, bans).</a:t>
            </a:r>
          </a:p>
          <a:p>
            <a:pPr>
              <a:spcAft>
                <a:spcPts val="400"/>
              </a:spcAft>
            </a:pPr>
            <a:r>
              <a:rPr sz="900" b="1">
                <a:solidFill>
                  <a:srgbClr val="34A853"/>
                </a:solidFill>
                <a:latin typeface="Google Sans"/>
              </a:rPr>
              <a:t>• </a:t>
            </a:r>
            <a:r>
              <a:rPr sz="880" b="1">
                <a:solidFill>
                  <a:srgbClr val="1E293B"/>
                </a:solidFill>
                <a:latin typeface="Google Sans"/>
              </a:rPr>
              <a:t>Citizens (Google Login): </a:t>
            </a:r>
            <a:r>
              <a:rPr sz="880">
                <a:solidFill>
                  <a:srgbClr val="475569"/>
                </a:solidFill>
                <a:latin typeface="Google Sans"/>
              </a:rPr>
              <a:t>Pin &amp; monitor places you care about for 30-day verified action proof.</a:t>
            </a:r>
          </a:p>
          <a:p>
            <a:pPr>
              <a:spcAft>
                <a:spcPts val="400"/>
              </a:spcAft>
            </a:pPr>
            <a:r>
              <a:rPr sz="900" b="1">
                <a:solidFill>
                  <a:srgbClr val="34A853"/>
                </a:solidFill>
                <a:latin typeface="Google Sans"/>
              </a:rPr>
              <a:t>• </a:t>
            </a:r>
            <a:r>
              <a:rPr sz="880" b="1">
                <a:solidFill>
                  <a:srgbClr val="1E293B"/>
                </a:solidFill>
                <a:latin typeface="Google Sans"/>
              </a:rPr>
              <a:t>Municipal Officers (Gov): </a:t>
            </a:r>
            <a:r>
              <a:rPr sz="880">
                <a:solidFill>
                  <a:srgbClr val="475569"/>
                </a:solidFill>
                <a:latin typeface="Google Sans"/>
              </a:rPr>
              <a:t>Dispatch field teams, set 4-interval timers, and audit action efficacy.</a:t>
            </a:r>
          </a:p>
          <a:p>
            <a:pPr>
              <a:spcAft>
                <a:spcPts val="400"/>
              </a:spcAft>
            </a:pPr>
            <a:r>
              <a:rPr sz="900" b="1">
                <a:solidFill>
                  <a:srgbClr val="34A853"/>
                </a:solidFill>
                <a:latin typeface="Google Sans"/>
              </a:rPr>
              <a:t>• </a:t>
            </a:r>
            <a:r>
              <a:rPr sz="880" b="1">
                <a:solidFill>
                  <a:srgbClr val="1E293B"/>
                </a:solidFill>
                <a:latin typeface="Google Sans"/>
              </a:rPr>
              <a:t>Regulators &amp; Leadership: </a:t>
            </a:r>
            <a:r>
              <a:rPr sz="880">
                <a:solidFill>
                  <a:srgbClr val="475569"/>
                </a:solidFill>
                <a:latin typeface="Google Sans"/>
              </a:rPr>
              <a:t>Empirically verify clean-air spending with causal DiD evidence trails.</a:t>
            </a:r>
          </a:p>
          <a:p>
            <a:pPr>
              <a:spcAft>
                <a:spcPts val="400"/>
              </a:spcAft>
            </a:pPr>
            <a:r>
              <a:rPr sz="900" b="1">
                <a:solidFill>
                  <a:srgbClr val="34A853"/>
                </a:solidFill>
                <a:latin typeface="Google Sans"/>
              </a:rPr>
              <a:t>• </a:t>
            </a:r>
            <a:r>
              <a:rPr sz="880" b="1">
                <a:solidFill>
                  <a:srgbClr val="1E293B"/>
                </a:solidFill>
                <a:latin typeface="Google Sans"/>
              </a:rPr>
              <a:t>Zero Privacy Tracking: </a:t>
            </a:r>
            <a:r>
              <a:rPr sz="880">
                <a:solidFill>
                  <a:srgbClr val="475569"/>
                </a:solidFill>
                <a:latin typeface="Google Sans"/>
              </a:rPr>
              <a:t>Strictly local pin-based monitoring with zero background GPS tracking.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400000" y="4700000"/>
            <a:ext cx="8344000" cy="32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tIns="50800" rIns="152400" bIns="50800"/>
          <a:lstStyle/>
          <a:p>
            <a:pPr algn="ctr"/>
            <a:r>
              <a:rPr sz="900" b="1">
                <a:solidFill>
                  <a:srgbClr val="1A73E8"/>
                </a:solidFill>
                <a:latin typeface="Google Sans"/>
              </a:rPr>
              <a:t>💡 Live National Deployment | </a:t>
            </a:r>
            <a:r>
              <a:rPr sz="900">
                <a:solidFill>
                  <a:srgbClr val="334155"/>
                </a:solidFill>
                <a:latin typeface="Google Sans"/>
              </a:rPr>
              <a:t>Auto-Detects State &amp; District via GPS • Multi-State Selector &amp; Reset • 500m Satellite Telemetry Across India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6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6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6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6"/>
          <p:cNvSpPr txBox="1"/>
          <p:nvPr/>
        </p:nvSpPr>
        <p:spPr>
          <a:xfrm>
            <a:off x="400000" y="560000"/>
            <a:ext cx="8344000" cy="6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  <a:defRPr sz="2100" b="1">
                <a:solidFill>
                  <a:srgbClr val="0F172A"/>
                </a:solidFill>
                <a:latin typeface="Google Sans"/>
              </a:defRPr>
            </a:pPr>
            <a:r>
              <a:t>Opportunities</a:t>
            </a:r>
            <a:endParaRPr sz="1600">
              <a:latin typeface="Google Sans Flex SemiBold"/>
              <a:ea typeface="Google Sans Flex SemiBold"/>
              <a:cs typeface="Google Sans Flex SemiBold"/>
              <a:sym typeface="Google Sans Flex SemiBold"/>
            </a:endParaRPr>
          </a:p>
          <a:p>
            <a:pPr>
              <a:defRPr sz="850" b="1">
                <a:solidFill>
                  <a:srgbClr val="64748B"/>
                </a:solidFill>
                <a:latin typeface="Google Sans"/>
              </a:defRPr>
            </a:pPr>
            <a:r>
              <a:t>HOW WE DIFFER  •  THE CAUSAL MECHANISM  •  CORE GOOGLE USP</a:t>
            </a:r>
          </a:p>
        </p:txBody>
      </p:sp>
      <p:sp>
        <p:nvSpPr>
          <p:cNvPr id="80" name="Rectangle 79"/>
          <p:cNvSpPr/>
          <p:nvPr/>
        </p:nvSpPr>
        <p:spPr>
          <a:xfrm>
            <a:off x="0" y="507359"/>
            <a:ext cx="9144000" cy="4636141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ounded Rectangle 80"/>
          <p:cNvSpPr/>
          <p:nvPr/>
        </p:nvSpPr>
        <p:spPr>
          <a:xfrm>
            <a:off x="400000" y="1220000"/>
            <a:ext cx="1981000" cy="134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A43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tIns="101600" rIns="101600" bIns="76200"/>
          <a:lstStyle/>
          <a:p>
            <a:pPr algn="ctr">
              <a:spcAft>
                <a:spcPts val="200"/>
              </a:spcAft>
              <a:defRPr sz="750" b="1">
                <a:solidFill>
                  <a:srgbClr val="64748B"/>
                </a:solidFill>
                <a:latin typeface="Google Sans"/>
              </a:defRPr>
            </a:pPr>
            <a:r>
              <a:t>PARADIGM</a:t>
            </a:r>
          </a:p>
          <a:p>
            <a:pPr>
              <a:spcAft>
                <a:spcPts val="100"/>
              </a:spcAft>
            </a:pPr>
            <a:r>
              <a:rPr sz="950" b="1">
                <a:solidFill>
                  <a:srgbClr val="B91C1C"/>
                </a:solidFill>
                <a:latin typeface="Google Sans"/>
              </a:rPr>
              <a:t>Static AQI Scores</a:t>
            </a:r>
          </a:p>
          <a:p>
            <a:pPr>
              <a:spcAft>
                <a:spcPts val="100"/>
              </a:spcAft>
            </a:pPr>
            <a:r>
              <a:rPr sz="900" b="1">
                <a:solidFill>
                  <a:srgbClr val="EA4335"/>
                </a:solidFill>
                <a:latin typeface="Google Sans"/>
              </a:rPr>
              <a:t>     ⬇</a:t>
            </a:r>
          </a:p>
          <a:p>
            <a:r>
              <a:rPr sz="950" b="1">
                <a:solidFill>
                  <a:srgbClr val="0F172A"/>
                </a:solidFill>
                <a:latin typeface="Google Sans"/>
              </a:rPr>
              <a:t>Causal Action Auditing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2521000" y="1220000"/>
            <a:ext cx="1981000" cy="134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tIns="101600" rIns="101600" bIns="76200"/>
          <a:lstStyle/>
          <a:p>
            <a:pPr algn="ctr">
              <a:spcAft>
                <a:spcPts val="200"/>
              </a:spcAft>
              <a:defRPr sz="750" b="1">
                <a:solidFill>
                  <a:srgbClr val="64748B"/>
                </a:solidFill>
                <a:latin typeface="Google Sans"/>
              </a:defRPr>
            </a:pPr>
            <a:r>
              <a:t>COVERAGE</a:t>
            </a:r>
          </a:p>
          <a:p>
            <a:pPr>
              <a:spcAft>
                <a:spcPts val="100"/>
              </a:spcAft>
            </a:pPr>
            <a:r>
              <a:rPr sz="950" b="1">
                <a:solidFill>
                  <a:srgbClr val="B91C1C"/>
                </a:solidFill>
                <a:latin typeface="Google Sans"/>
              </a:rPr>
              <a:t>~40 Sparse Towers</a:t>
            </a:r>
          </a:p>
          <a:p>
            <a:pPr>
              <a:spcAft>
                <a:spcPts val="100"/>
              </a:spcAft>
            </a:pPr>
            <a:r>
              <a:rPr sz="900" b="1">
                <a:solidFill>
                  <a:srgbClr val="F59E0B"/>
                </a:solidFill>
                <a:latin typeface="Google Sans"/>
              </a:rPr>
              <a:t>     ⬇</a:t>
            </a:r>
          </a:p>
          <a:p>
            <a:r>
              <a:rPr sz="950" b="1">
                <a:solidFill>
                  <a:srgbClr val="0F172A"/>
                </a:solidFill>
                <a:latin typeface="Google Sans"/>
              </a:rPr>
              <a:t>Continuous 500m Sat Grid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4642000" y="1220000"/>
            <a:ext cx="1981000" cy="134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tIns="101600" rIns="101600" bIns="76200"/>
          <a:lstStyle/>
          <a:p>
            <a:pPr algn="ctr">
              <a:spcAft>
                <a:spcPts val="200"/>
              </a:spcAft>
              <a:defRPr sz="750" b="1">
                <a:solidFill>
                  <a:srgbClr val="64748B"/>
                </a:solidFill>
                <a:latin typeface="Google Sans"/>
              </a:defRPr>
            </a:pPr>
            <a:r>
              <a:t>MUNICIPAL GOV</a:t>
            </a:r>
          </a:p>
          <a:p>
            <a:pPr>
              <a:spcAft>
                <a:spcPts val="100"/>
              </a:spcAft>
            </a:pPr>
            <a:r>
              <a:rPr sz="950" b="1">
                <a:solidFill>
                  <a:srgbClr val="B91C1C"/>
                </a:solidFill>
                <a:latin typeface="Google Sans"/>
              </a:rPr>
              <a:t>Blind Municipal Spending</a:t>
            </a:r>
          </a:p>
          <a:p>
            <a:pPr>
              <a:spcAft>
                <a:spcPts val="100"/>
              </a:spcAft>
            </a:pPr>
            <a:r>
              <a:rPr sz="900" b="1">
                <a:solidFill>
                  <a:srgbClr val="4285F4"/>
                </a:solidFill>
                <a:latin typeface="Google Sans"/>
              </a:rPr>
              <a:t>     ⬇</a:t>
            </a:r>
          </a:p>
          <a:p>
            <a:r>
              <a:rPr sz="950" b="1">
                <a:solidFill>
                  <a:srgbClr val="0F172A"/>
                </a:solidFill>
                <a:latin typeface="Google Sans"/>
              </a:rPr>
              <a:t>Verified Before/After Deltas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6763000" y="1220000"/>
            <a:ext cx="1981000" cy="134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tIns="101600" rIns="101600" bIns="76200"/>
          <a:lstStyle/>
          <a:p>
            <a:pPr algn="ctr">
              <a:spcAft>
                <a:spcPts val="200"/>
              </a:spcAft>
              <a:defRPr sz="750" b="1">
                <a:solidFill>
                  <a:srgbClr val="64748B"/>
                </a:solidFill>
                <a:latin typeface="Google Sans"/>
              </a:defRPr>
            </a:pPr>
            <a:r>
              <a:t>CITIZEN IMPACT</a:t>
            </a:r>
          </a:p>
          <a:p>
            <a:pPr>
              <a:spcAft>
                <a:spcPts val="100"/>
              </a:spcAft>
            </a:pPr>
            <a:r>
              <a:rPr sz="950" b="1">
                <a:solidFill>
                  <a:srgbClr val="B91C1C"/>
                </a:solidFill>
                <a:latin typeface="Google Sans"/>
              </a:rPr>
              <a:t>Passive Alert Anxiety</a:t>
            </a:r>
          </a:p>
          <a:p>
            <a:pPr>
              <a:spcAft>
                <a:spcPts val="100"/>
              </a:spcAft>
            </a:pPr>
            <a:r>
              <a:rPr sz="900" b="1">
                <a:solidFill>
                  <a:srgbClr val="34A853"/>
                </a:solidFill>
                <a:latin typeface="Google Sans"/>
              </a:rPr>
              <a:t>     ⬇</a:t>
            </a:r>
          </a:p>
          <a:p>
            <a:r>
              <a:rPr sz="950" b="1">
                <a:solidFill>
                  <a:srgbClr val="0F172A"/>
                </a:solidFill>
                <a:latin typeface="Google Sans"/>
              </a:rPr>
              <a:t>Pin &amp; Monitor Civic Proof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400000" y="2660000"/>
            <a:ext cx="4072000" cy="2360000"/>
          </a:xfrm>
          <a:prstGeom prst="roundRect">
            <a:avLst/>
          </a:prstGeom>
          <a:solidFill>
            <a:srgbClr val="F0F7FF"/>
          </a:solidFill>
          <a:ln w="2540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27000" rIns="152400" bIns="101600"/>
          <a:lstStyle/>
          <a:p>
            <a:pPr algn="ctr">
              <a:spcAft>
                <a:spcPts val="200"/>
              </a:spcAft>
              <a:defRPr sz="850" b="1">
                <a:solidFill>
                  <a:srgbClr val="1A73E8"/>
                </a:solidFill>
                <a:latin typeface="Google Sans"/>
              </a:defRPr>
            </a:pPr>
            <a:r>
              <a:t>⚙️  02 // THE CAUSAL MECHANISM</a:t>
            </a:r>
          </a:p>
          <a:p>
            <a:pPr>
              <a:spcAft>
                <a:spcPts val="500"/>
              </a:spcAft>
              <a:defRPr sz="1250" b="1">
                <a:solidFill>
                  <a:srgbClr val="0F172A"/>
                </a:solidFill>
                <a:latin typeface="Google Sans"/>
              </a:defRPr>
            </a:pPr>
            <a:r>
              <a:t>Difference-in-Differences (DiD) Engine</a:t>
            </a:r>
          </a:p>
          <a:p>
            <a:pPr>
              <a:spcAft>
                <a:spcPts val="350"/>
              </a:spcAft>
            </a:pPr>
            <a:r>
              <a:rPr sz="880" b="1">
                <a:solidFill>
                  <a:srgbClr val="1E293B"/>
                </a:solidFill>
                <a:latin typeface="Google Sans"/>
              </a:rPr>
              <a:t>🎯 Treated vs. Control Pairing: </a:t>
            </a:r>
            <a:r>
              <a:rPr sz="880">
                <a:solidFill>
                  <a:srgbClr val="475569"/>
                </a:solidFill>
                <a:latin typeface="Google Sans"/>
              </a:rPr>
              <a:t>Pairs clean-up spots with untouched control zones (2–3 km) to cut ambient weather bias.</a:t>
            </a:r>
          </a:p>
          <a:p>
            <a:pPr>
              <a:spcAft>
                <a:spcPts val="350"/>
              </a:spcAft>
            </a:pPr>
            <a:r>
              <a:rPr sz="880" b="1">
                <a:solidFill>
                  <a:srgbClr val="1E293B"/>
                </a:solidFill>
                <a:latin typeface="Google Sans"/>
              </a:rPr>
              <a:t>⏱️ 4-Timed Cloud Checkpoints: </a:t>
            </a:r>
            <a:r>
              <a:rPr sz="880">
                <a:solidFill>
                  <a:srgbClr val="475569"/>
                </a:solidFill>
                <a:latin typeface="Google Sans"/>
              </a:rPr>
              <a:t>Auto-samples air at +15s, +3h, +6h, +24h (configurable to 3d) to measure true duration.</a:t>
            </a:r>
          </a:p>
          <a:p>
            <a:pPr>
              <a:spcAft>
                <a:spcPts val="350"/>
              </a:spcAft>
            </a:pPr>
            <a:r>
              <a:rPr sz="880" b="1">
                <a:solidFill>
                  <a:srgbClr val="1E293B"/>
                </a:solidFill>
                <a:latin typeface="Google Sans"/>
              </a:rPr>
              <a:t>🌬️ Confounder-Aware Validation: </a:t>
            </a:r>
            <a:r>
              <a:rPr sz="880">
                <a:solidFill>
                  <a:srgbClr val="475569"/>
                </a:solidFill>
                <a:latin typeface="Google Sans"/>
              </a:rPr>
              <a:t>Cross-checks wind shifts (&gt;30°) &amp; rain (&gt;0.2mm/h) via Google Weather API to eliminate false positives.</a:t>
            </a:r>
          </a:p>
          <a:p>
            <a:pPr>
              <a:spcAft>
                <a:spcPts val="350"/>
              </a:spcAft>
            </a:pPr>
            <a:r>
              <a:rPr sz="880" b="1">
                <a:solidFill>
                  <a:srgbClr val="1E293B"/>
                </a:solidFill>
                <a:latin typeface="Google Sans"/>
              </a:rPr>
              <a:t>🏷️ Tamper-Proof Evidence Badges: </a:t>
            </a:r>
            <a:r>
              <a:rPr sz="880">
                <a:solidFill>
                  <a:srgbClr val="475569"/>
                </a:solidFill>
                <a:latin typeface="Google Sans"/>
              </a:rPr>
              <a:t>Automatically tags outcomes as Verified Improvement, Confounded, or Inconclusive.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4672000" y="2660000"/>
            <a:ext cx="4072000" cy="236000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27000" rIns="152400" bIns="101600"/>
          <a:lstStyle/>
          <a:p>
            <a:pPr algn="ctr">
              <a:spcAft>
                <a:spcPts val="200"/>
              </a:spcAft>
              <a:defRPr sz="850" b="1">
                <a:solidFill>
                  <a:srgbClr val="15803D"/>
                </a:solidFill>
                <a:latin typeface="Google Sans"/>
              </a:defRPr>
            </a:pPr>
            <a:r>
              <a:t>⭐  03 // UNIQUE SELLING PROPOSITION</a:t>
            </a:r>
          </a:p>
          <a:p>
            <a:pPr>
              <a:spcAft>
                <a:spcPts val="500"/>
              </a:spcAft>
              <a:defRPr sz="1250" b="1">
                <a:solidFill>
                  <a:srgbClr val="0F172A"/>
                </a:solidFill>
                <a:latin typeface="Google Sans"/>
              </a:defRPr>
            </a:pPr>
            <a:r>
              <a:t>Google-Native Evidence Ecosystem</a:t>
            </a:r>
          </a:p>
          <a:p>
            <a:pPr>
              <a:spcAft>
                <a:spcPts val="350"/>
              </a:spcAft>
            </a:pPr>
            <a:r>
              <a:rPr sz="880" b="1">
                <a:solidFill>
                  <a:srgbClr val="1E293B"/>
                </a:solidFill>
                <a:latin typeface="Google Sans"/>
              </a:rPr>
              <a:t>🛰️ Pure Google Environmental APIs: </a:t>
            </a:r>
            <a:r>
              <a:rPr sz="880">
                <a:solidFill>
                  <a:srgbClr val="475569"/>
                </a:solidFill>
                <a:latin typeface="Google Sans"/>
              </a:rPr>
              <a:t>Combines Google Air Quality (500m + 30d history), Google Pollen API, &amp; Maps Vector SDK.</a:t>
            </a:r>
          </a:p>
          <a:p>
            <a:pPr>
              <a:spcAft>
                <a:spcPts val="350"/>
              </a:spcAft>
            </a:pPr>
            <a:r>
              <a:rPr sz="880" b="1">
                <a:solidFill>
                  <a:srgbClr val="1E293B"/>
                </a:solidFill>
                <a:latin typeface="Google Sans"/>
              </a:rPr>
              <a:t>🧠 Vertex AI (Gemini 2.5 Flash-Lite): </a:t>
            </a:r>
            <a:r>
              <a:rPr sz="880">
                <a:solidFill>
                  <a:srgbClr val="475569"/>
                </a:solidFill>
                <a:latin typeface="Google Sans"/>
              </a:rPr>
              <a:t>Automated plain-English executive briefings and statutory gazette verification (GRAP-IV).</a:t>
            </a:r>
          </a:p>
          <a:p>
            <a:pPr>
              <a:spcAft>
                <a:spcPts val="350"/>
              </a:spcAft>
            </a:pPr>
            <a:r>
              <a:rPr sz="880" b="1">
                <a:solidFill>
                  <a:srgbClr val="1E293B"/>
                </a:solidFill>
                <a:latin typeface="Google Sans"/>
              </a:rPr>
              <a:t>🛡️ Privacy-First Civic Protection: </a:t>
            </a:r>
            <a:r>
              <a:rPr sz="880">
                <a:solidFill>
                  <a:srgbClr val="475569"/>
                </a:solidFill>
                <a:latin typeface="Google Sans"/>
              </a:rPr>
              <a:t>Citizens pin and monitor places they care about with 100% zero background GPS tracking.</a:t>
            </a:r>
          </a:p>
          <a:p>
            <a:pPr>
              <a:spcAft>
                <a:spcPts val="350"/>
              </a:spcAft>
            </a:pPr>
            <a:r>
              <a:rPr sz="880" b="1">
                <a:solidFill>
                  <a:srgbClr val="1E293B"/>
                </a:solidFill>
                <a:latin typeface="Google Sans"/>
              </a:rPr>
              <a:t>🔒 Zero-Password Enterprise Security: </a:t>
            </a:r>
            <a:r>
              <a:rPr sz="880">
                <a:solidFill>
                  <a:srgbClr val="475569"/>
                </a:solidFill>
                <a:latin typeface="Google Sans"/>
              </a:rPr>
              <a:t>Cloud SQL PostGIS with IAM database authentication for official municipal dispatch.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7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7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7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7"/>
          <p:cNvSpPr txBox="1"/>
          <p:nvPr/>
        </p:nvSpPr>
        <p:spPr>
          <a:xfrm>
            <a:off x="400000" y="560000"/>
            <a:ext cx="8344000" cy="6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  <a:defRPr sz="2100" b="1">
                <a:solidFill>
                  <a:srgbClr val="0F172A"/>
                </a:solidFill>
                <a:latin typeface="Google Sans"/>
              </a:defRPr>
            </a:pPr>
            <a:r>
              <a:t>List of features offered by the solution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>
              <a:defRPr sz="850" b="1">
                <a:solidFill>
                  <a:srgbClr val="64748B"/>
                </a:solidFill>
                <a:latin typeface="Google Sans"/>
              </a:defRPr>
            </a:pPr>
            <a:r>
              <a:t>THE AERIFY AI INTEGRATED MUNICIPAL &amp; CIVIC ECOSYSTEM</a:t>
            </a:r>
          </a:p>
        </p:txBody>
      </p:sp>
      <p:sp>
        <p:nvSpPr>
          <p:cNvPr id="88" name="Rectangle 87"/>
          <p:cNvSpPr/>
          <p:nvPr/>
        </p:nvSpPr>
        <p:spPr>
          <a:xfrm>
            <a:off x="0" y="507359"/>
            <a:ext cx="9144000" cy="4636141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9" name="Connector 88"/>
          <p:cNvCxnSpPr/>
          <p:nvPr/>
        </p:nvCxnSpPr>
        <p:spPr>
          <a:xfrm>
            <a:off x="3550000" y="2890000"/>
            <a:ext cx="1022000" cy="170000"/>
          </a:xfrm>
          <a:prstGeom prst="line">
            <a:avLst/>
          </a:prstGeom>
          <a:ln w="19050">
            <a:solidFill>
              <a:srgbClr val="4285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 flipH="1">
            <a:off x="4572000" y="2890000"/>
            <a:ext cx="1022000" cy="170000"/>
          </a:xfrm>
          <a:prstGeom prst="line">
            <a:avLst/>
          </a:prstGeom>
          <a:ln w="19050">
            <a:solidFill>
              <a:srgbClr val="34A8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 flipV="1">
            <a:off x="3550000" y="3060000"/>
            <a:ext cx="1022000" cy="200000"/>
          </a:xfrm>
          <a:prstGeom prst="line">
            <a:avLst/>
          </a:prstGeom>
          <a:ln w="19050">
            <a:solidFill>
              <a:srgbClr val="EA43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 flipH="1" flipV="1">
            <a:off x="4572000" y="3060000"/>
            <a:ext cx="1022000" cy="200000"/>
          </a:xfrm>
          <a:prstGeom prst="line">
            <a:avLst/>
          </a:prstGeom>
          <a:ln w="1905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Rounded Rectangle 92"/>
          <p:cNvSpPr/>
          <p:nvPr/>
        </p:nvSpPr>
        <p:spPr>
          <a:xfrm>
            <a:off x="400000" y="1240000"/>
            <a:ext cx="3150000" cy="1650000"/>
          </a:xfrm>
          <a:prstGeom prst="roundRect">
            <a:avLst/>
          </a:prstGeom>
          <a:solidFill>
            <a:srgbClr val="F0F7FF"/>
          </a:solidFill>
          <a:ln w="22225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 rIns="127000" bIns="76200"/>
          <a:lstStyle/>
          <a:p>
            <a:pPr algn="ctr">
              <a:spcAft>
                <a:spcPts val="100"/>
              </a:spcAft>
              <a:defRPr sz="750" b="1">
                <a:solidFill>
                  <a:srgbClr val="4285F4"/>
                </a:solidFill>
                <a:latin typeface="Google Sans"/>
              </a:defRPr>
            </a:pPr>
            <a:r>
              <a:t>01 // PUBLIC INTELLIGENCE</a:t>
            </a:r>
          </a:p>
          <a:p>
            <a:pPr>
              <a:spcAft>
                <a:spcPts val="400"/>
              </a:spcAft>
              <a:defRPr sz="1150" b="1">
                <a:solidFill>
                  <a:srgbClr val="0F172A"/>
                </a:solidFill>
                <a:latin typeface="Google Sans"/>
              </a:defRPr>
            </a:pPr>
            <a:r>
              <a:t>🌐 National Map &amp; Directives</a:t>
            </a:r>
          </a:p>
          <a:p>
            <a:pPr>
              <a:spcAft>
                <a:spcPts val="250"/>
              </a:spcAft>
            </a:pPr>
            <a:r>
              <a:rPr sz="850" b="1">
                <a:solidFill>
                  <a:srgbClr val="1E293B"/>
                </a:solidFill>
                <a:latin typeface="Google Sans"/>
              </a:rPr>
              <a:t>• Auto-GPS State &amp; District Map: </a:t>
            </a:r>
            <a:r>
              <a:rPr sz="850">
                <a:solidFill>
                  <a:srgbClr val="475569"/>
                </a:solidFill>
                <a:latin typeface="Google Sans"/>
              </a:rPr>
              <a:t>Vector map with multi-state selector &amp; reset.</a:t>
            </a:r>
          </a:p>
          <a:p>
            <a:pPr>
              <a:spcAft>
                <a:spcPts val="250"/>
              </a:spcAft>
            </a:pPr>
            <a:r>
              <a:rPr sz="850" b="1">
                <a:solidFill>
                  <a:srgbClr val="1E293B"/>
                </a:solidFill>
                <a:latin typeface="Google Sans"/>
              </a:rPr>
              <a:t>• Near You Card &amp; Pollen Risk: </a:t>
            </a:r>
            <a:r>
              <a:rPr sz="850">
                <a:solidFill>
                  <a:srgbClr val="475569"/>
                </a:solidFill>
                <a:latin typeface="Google Sans"/>
              </a:rPr>
              <a:t>Live 500m street AQI, 6 chemicals &amp; 3-day allergy risk.</a:t>
            </a:r>
          </a:p>
          <a:p>
            <a:pPr>
              <a:spcAft>
                <a:spcPts val="250"/>
              </a:spcAft>
            </a:pPr>
            <a:r>
              <a:rPr sz="850" b="1">
                <a:solidFill>
                  <a:srgbClr val="1E293B"/>
                </a:solidFill>
                <a:latin typeface="Google Sans"/>
              </a:rPr>
              <a:t>• Statutory Policy Directives: </a:t>
            </a:r>
            <a:r>
              <a:rPr sz="850">
                <a:solidFill>
                  <a:srgbClr val="475569"/>
                </a:solidFill>
                <a:latin typeface="Google Sans"/>
              </a:rPr>
              <a:t>Real-time state orders (Odd-Even, Firecracker Ban, GRAP-IV).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5594000" y="1240000"/>
            <a:ext cx="3150000" cy="1650000"/>
          </a:xfrm>
          <a:prstGeom prst="roundRect">
            <a:avLst/>
          </a:prstGeom>
          <a:solidFill>
            <a:srgbClr val="F0FDF4"/>
          </a:solidFill>
          <a:ln w="22225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 rIns="127000" bIns="76200"/>
          <a:lstStyle/>
          <a:p>
            <a:pPr algn="ctr">
              <a:spcAft>
                <a:spcPts val="100"/>
              </a:spcAft>
              <a:defRPr sz="750" b="1">
                <a:solidFill>
                  <a:srgbClr val="34A853"/>
                </a:solidFill>
                <a:latin typeface="Google Sans"/>
              </a:defRPr>
            </a:pPr>
            <a:r>
              <a:t>02 // CITIZEN PROTECTION</a:t>
            </a:r>
          </a:p>
          <a:p>
            <a:pPr>
              <a:spcAft>
                <a:spcPts val="400"/>
              </a:spcAft>
              <a:defRPr sz="1150" b="1">
                <a:solidFill>
                  <a:srgbClr val="0F172A"/>
                </a:solidFill>
                <a:latin typeface="Google Sans"/>
              </a:defRPr>
            </a:pPr>
            <a:r>
              <a:t>🛡️ Pin &amp; Monitor Civic Places</a:t>
            </a:r>
          </a:p>
          <a:p>
            <a:pPr>
              <a:spcAft>
                <a:spcPts val="250"/>
              </a:spcAft>
            </a:pPr>
            <a:r>
              <a:rPr sz="850" b="1">
                <a:solidFill>
                  <a:srgbClr val="1E293B"/>
                </a:solidFill>
                <a:latin typeface="Google Sans"/>
              </a:rPr>
              <a:t>• Privacy-First Pinning: </a:t>
            </a:r>
            <a:r>
              <a:rPr sz="850">
                <a:solidFill>
                  <a:srgbClr val="475569"/>
                </a:solidFill>
                <a:latin typeface="Google Sans"/>
              </a:rPr>
              <a:t>Pin home, school, or work with 100% user privacy.</a:t>
            </a:r>
          </a:p>
          <a:p>
            <a:pPr>
              <a:spcAft>
                <a:spcPts val="250"/>
              </a:spcAft>
            </a:pPr>
            <a:r>
              <a:rPr sz="850" b="1">
                <a:solidFill>
                  <a:srgbClr val="1E293B"/>
                </a:solidFill>
                <a:latin typeface="Google Sans"/>
              </a:rPr>
              <a:t>• 30-Day Action Ledger: </a:t>
            </a:r>
            <a:r>
              <a:rPr sz="850">
                <a:solidFill>
                  <a:srgbClr val="475569"/>
                </a:solidFill>
                <a:latin typeface="Google Sans"/>
              </a:rPr>
              <a:t>Displays municipal clean-ups conducted in pinned spots.</a:t>
            </a:r>
          </a:p>
          <a:p>
            <a:pPr>
              <a:spcAft>
                <a:spcPts val="250"/>
              </a:spcAft>
            </a:pPr>
            <a:r>
              <a:rPr sz="850" b="1">
                <a:solidFill>
                  <a:srgbClr val="1E293B"/>
                </a:solidFill>
                <a:latin typeface="Google Sans"/>
              </a:rPr>
              <a:t>• Pre/Post AQI Delta Reports: </a:t>
            </a:r>
            <a:r>
              <a:rPr sz="850">
                <a:solidFill>
                  <a:srgbClr val="475569"/>
                </a:solidFill>
                <a:latin typeface="Google Sans"/>
              </a:rPr>
              <a:t>Quick [Show Air Report] drawer &amp; verified reduction views.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400000" y="3260000"/>
            <a:ext cx="3150000" cy="1650000"/>
          </a:xfrm>
          <a:prstGeom prst="roundRect">
            <a:avLst/>
          </a:prstGeom>
          <a:solidFill>
            <a:srgbClr val="FEF2F2"/>
          </a:solidFill>
          <a:ln w="22225">
            <a:solidFill>
              <a:srgbClr val="EA43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 rIns="127000" bIns="76200"/>
          <a:lstStyle/>
          <a:p>
            <a:pPr algn="ctr">
              <a:spcAft>
                <a:spcPts val="100"/>
              </a:spcAft>
              <a:defRPr sz="750" b="1">
                <a:solidFill>
                  <a:srgbClr val="EA4335"/>
                </a:solidFill>
                <a:latin typeface="Google Sans"/>
              </a:defRPr>
            </a:pPr>
            <a:r>
              <a:t>03 // CAUSAL VERIFICATION</a:t>
            </a:r>
          </a:p>
          <a:p>
            <a:pPr>
              <a:spcAft>
                <a:spcPts val="400"/>
              </a:spcAft>
              <a:defRPr sz="1150" b="1">
                <a:solidFill>
                  <a:srgbClr val="0F172A"/>
                </a:solidFill>
                <a:latin typeface="Google Sans"/>
              </a:defRPr>
            </a:pPr>
            <a:r>
              <a:t>⚙️ Causal DiD &amp; Vertex AI</a:t>
            </a:r>
          </a:p>
          <a:p>
            <a:pPr>
              <a:spcAft>
                <a:spcPts val="250"/>
              </a:spcAft>
            </a:pPr>
            <a:r>
              <a:rPr sz="850" b="1">
                <a:solidFill>
                  <a:srgbClr val="1E293B"/>
                </a:solidFill>
                <a:latin typeface="Google Sans"/>
              </a:rPr>
              <a:t>• Treated vs. Control 500m Pairing: </a:t>
            </a:r>
            <a:r>
              <a:rPr sz="850">
                <a:solidFill>
                  <a:srgbClr val="475569"/>
                </a:solidFill>
                <a:latin typeface="Google Sans"/>
              </a:rPr>
              <a:t>Mathematically isolates net particulate reduction.</a:t>
            </a:r>
          </a:p>
          <a:p>
            <a:pPr>
              <a:spcAft>
                <a:spcPts val="250"/>
              </a:spcAft>
            </a:pPr>
            <a:r>
              <a:rPr sz="850" b="1">
                <a:solidFill>
                  <a:srgbClr val="1E293B"/>
                </a:solidFill>
                <a:latin typeface="Google Sans"/>
              </a:rPr>
              <a:t>• Weather Confounder Filters: </a:t>
            </a:r>
            <a:r>
              <a:rPr sz="850">
                <a:solidFill>
                  <a:srgbClr val="475569"/>
                </a:solidFill>
                <a:latin typeface="Google Sans"/>
              </a:rPr>
              <a:t>Removes false positives from wind shifts (&gt;30°) &amp; rain.</a:t>
            </a:r>
          </a:p>
          <a:p>
            <a:pPr>
              <a:spcAft>
                <a:spcPts val="250"/>
              </a:spcAft>
            </a:pPr>
            <a:r>
              <a:rPr sz="850" b="1">
                <a:solidFill>
                  <a:srgbClr val="1E293B"/>
                </a:solidFill>
                <a:latin typeface="Google Sans"/>
              </a:rPr>
              <a:t>• Vertex AI Briefs &amp; Badges: </a:t>
            </a:r>
            <a:r>
              <a:rPr sz="850">
                <a:solidFill>
                  <a:srgbClr val="475569"/>
                </a:solidFill>
                <a:latin typeface="Google Sans"/>
              </a:rPr>
              <a:t>Gemini 2.5 Flash-Lite executive briefs &amp; Verified tags.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5594000" y="3260000"/>
            <a:ext cx="3150000" cy="1650000"/>
          </a:xfrm>
          <a:prstGeom prst="roundRect">
            <a:avLst/>
          </a:prstGeom>
          <a:solidFill>
            <a:srgbClr val="FEFCE8"/>
          </a:solidFill>
          <a:ln w="22225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 rIns="127000" bIns="76200"/>
          <a:lstStyle/>
          <a:p>
            <a:pPr algn="ctr">
              <a:spcAft>
                <a:spcPts val="100"/>
              </a:spcAft>
              <a:defRPr sz="750" b="1">
                <a:solidFill>
                  <a:srgbClr val="F59E0B"/>
                </a:solidFill>
                <a:latin typeface="Google Sans"/>
              </a:defRPr>
            </a:pPr>
            <a:r>
              <a:t>04 // MUNICIPAL DISPATCH</a:t>
            </a:r>
          </a:p>
          <a:p>
            <a:pPr>
              <a:spcAft>
                <a:spcPts val="400"/>
              </a:spcAft>
              <a:defRPr sz="1150" b="1">
                <a:solidFill>
                  <a:srgbClr val="0F172A"/>
                </a:solidFill>
                <a:latin typeface="Google Sans"/>
              </a:defRPr>
            </a:pPr>
            <a:r>
              <a:t>🚜 Field Operations &amp; 4 Timers</a:t>
            </a:r>
          </a:p>
          <a:p>
            <a:pPr>
              <a:spcAft>
                <a:spcPts val="250"/>
              </a:spcAft>
            </a:pPr>
            <a:r>
              <a:rPr sz="850" b="1">
                <a:solidFill>
                  <a:srgbClr val="1E293B"/>
                </a:solidFill>
                <a:latin typeface="Google Sans"/>
              </a:rPr>
              <a:t>• Gov Field Operation Dispatch: </a:t>
            </a:r>
            <a:r>
              <a:rPr sz="850">
                <a:solidFill>
                  <a:srgbClr val="475569"/>
                </a:solidFill>
                <a:latin typeface="Google Sans"/>
              </a:rPr>
              <a:t>Assign anti-smog guns, sweepers &amp; misting units.</a:t>
            </a:r>
          </a:p>
          <a:p>
            <a:pPr>
              <a:spcAft>
                <a:spcPts val="250"/>
              </a:spcAft>
            </a:pPr>
            <a:r>
              <a:rPr sz="850" b="1">
                <a:solidFill>
                  <a:srgbClr val="1E293B"/>
                </a:solidFill>
                <a:latin typeface="Google Sans"/>
              </a:rPr>
              <a:t>• Configurable 4-Stage Timers: </a:t>
            </a:r>
            <a:r>
              <a:rPr sz="850">
                <a:solidFill>
                  <a:srgbClr val="475569"/>
                </a:solidFill>
                <a:latin typeface="Google Sans"/>
              </a:rPr>
              <a:t>Cloud polling at +15s, +3h, +6h, +24h (custom 15s to 3d).</a:t>
            </a:r>
          </a:p>
          <a:p>
            <a:pPr>
              <a:spcAft>
                <a:spcPts val="250"/>
              </a:spcAft>
            </a:pPr>
            <a:r>
              <a:rPr sz="850" b="1">
                <a:solidFill>
                  <a:srgbClr val="1E293B"/>
                </a:solidFill>
                <a:latin typeface="Google Sans"/>
              </a:rPr>
              <a:t>• Compact List &amp; Details Drawer: </a:t>
            </a:r>
            <a:r>
              <a:rPr sz="850">
                <a:solidFill>
                  <a:srgbClr val="475569"/>
                </a:solidFill>
                <a:latin typeface="Google Sans"/>
              </a:rPr>
              <a:t>Operational split (Pending vs. Measuring) with timeline.</a:t>
            </a:r>
          </a:p>
        </p:txBody>
      </p:sp>
      <p:sp>
        <p:nvSpPr>
          <p:cNvPr id="97" name="Oval 96"/>
          <p:cNvSpPr/>
          <p:nvPr/>
        </p:nvSpPr>
        <p:spPr>
          <a:xfrm>
            <a:off x="3622000" y="2110000"/>
            <a:ext cx="1900000" cy="1900000"/>
          </a:xfrm>
          <a:prstGeom prst="ellipse">
            <a:avLst/>
          </a:prstGeom>
          <a:solidFill>
            <a:srgbClr val="0F172A"/>
          </a:solidFill>
          <a:ln w="3810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tIns="152400" rIns="101600" bIns="101600"/>
          <a:lstStyle/>
          <a:p>
            <a:pPr algn="ctr"/>
            <a:r>
              <a:rPr sz="1500"/>
              <a:t>🧭</a:t>
            </a:r>
          </a:p>
          <a:p>
            <a:pPr algn="ctr"/>
            <a:r>
              <a:rPr sz="1350" b="1">
                <a:solidFill>
                  <a:srgbClr val="FFFFFF"/>
                </a:solidFill>
                <a:latin typeface="Google Sans"/>
              </a:rPr>
              <a:t>Aerify AI</a:t>
            </a:r>
          </a:p>
          <a:p>
            <a:pPr algn="ctr"/>
            <a:r>
              <a:rPr sz="800">
                <a:solidFill>
                  <a:srgbClr val="94A3B8"/>
                </a:solidFill>
                <a:latin typeface="Google Sans"/>
              </a:rPr>
              <a:t>Unified Clean Air Action Hub</a:t>
            </a:r>
          </a:p>
          <a:p>
            <a:pPr algn="ctr"/>
            <a:r>
              <a:rPr sz="750" b="1">
                <a:solidFill>
                  <a:srgbClr val="8AB4F8"/>
                </a:solidFill>
                <a:latin typeface="Google Sans"/>
              </a:rPr>
              <a:t>Google APIs • Vertex AI • PostGIS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8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8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8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8"/>
          <p:cNvSpPr txBox="1"/>
          <p:nvPr/>
        </p:nvSpPr>
        <p:spPr>
          <a:xfrm>
            <a:off x="350000" y="550000"/>
            <a:ext cx="8444000" cy="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rgbClr val="0F172A"/>
                </a:solidFill>
                <a:latin typeface="Google Sans"/>
              </a:defRPr>
            </a:pPr>
            <a:r>
              <a:t>Process flow diagram or Use-case diagram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>
              <a:defRPr sz="800" b="1">
                <a:solidFill>
                  <a:srgbClr val="64748B"/>
                </a:solidFill>
                <a:latin typeface="Google Sans"/>
              </a:defRPr>
            </a:pPr>
            <a:r>
              <a:t>END-TO-END PRODUCT FLOW: CITIZEN JOURNEY • AI INTELLIGENCE • AUTHORIZED OFFICER WORKFLOW</a:t>
            </a:r>
          </a:p>
        </p:txBody>
      </p:sp>
      <p:sp>
        <p:nvSpPr>
          <p:cNvPr id="96" name="Rectangle 95"/>
          <p:cNvSpPr/>
          <p:nvPr/>
        </p:nvSpPr>
        <p:spPr>
          <a:xfrm>
            <a:off x="0" y="507359"/>
            <a:ext cx="9144000" cy="4636141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ounded Rectangle 96"/>
          <p:cNvSpPr/>
          <p:nvPr/>
        </p:nvSpPr>
        <p:spPr>
          <a:xfrm>
            <a:off x="350000" y="1160000"/>
            <a:ext cx="8444000" cy="1060000"/>
          </a:xfrm>
          <a:prstGeom prst="roundRect">
            <a:avLst/>
          </a:prstGeom>
          <a:solidFill>
            <a:srgbClr val="F0F7FF"/>
          </a:solidFill>
          <a:ln w="12700">
            <a:solidFill>
              <a:srgbClr val="BAD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ounded Rectangle 97"/>
          <p:cNvSpPr/>
          <p:nvPr/>
        </p:nvSpPr>
        <p:spPr>
          <a:xfrm>
            <a:off x="350000" y="2280000"/>
            <a:ext cx="8444000" cy="960000"/>
          </a:xfrm>
          <a:prstGeom prst="roundRect">
            <a:avLst/>
          </a:prstGeom>
          <a:solidFill>
            <a:srgbClr val="F5F3FF"/>
          </a:solidFill>
          <a:ln w="12700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ounded Rectangle 98"/>
          <p:cNvSpPr/>
          <p:nvPr/>
        </p:nvSpPr>
        <p:spPr>
          <a:xfrm>
            <a:off x="350000" y="3300000"/>
            <a:ext cx="8444000" cy="1680000"/>
          </a:xfrm>
          <a:prstGeom prst="roundRect">
            <a:avLst/>
          </a:prstGeom>
          <a:solidFill>
            <a:srgbClr val="FEFCE8"/>
          </a:solidFill>
          <a:ln w="12700">
            <a:solidFill>
              <a:srgbClr val="FEF0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ounded Rectangle 99"/>
          <p:cNvSpPr/>
          <p:nvPr/>
        </p:nvSpPr>
        <p:spPr>
          <a:xfrm>
            <a:off x="400000" y="1200000"/>
            <a:ext cx="1500000" cy="260000"/>
          </a:xfrm>
          <a:prstGeom prst="round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5400"/>
          <a:lstStyle/>
          <a:p>
            <a:pPr algn="ctr">
              <a:defRPr sz="750" b="1">
                <a:solidFill>
                  <a:srgbClr val="FFFFFF"/>
                </a:solidFill>
                <a:latin typeface="Google Sans"/>
              </a:defRPr>
            </a:pPr>
            <a:r>
              <a:t>LANE 1: CITIZEN JOURNEY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400000" y="2320000"/>
            <a:ext cx="1500000" cy="26000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5400"/>
          <a:lstStyle/>
          <a:p>
            <a:pPr algn="ctr">
              <a:defRPr sz="750" b="1">
                <a:solidFill>
                  <a:srgbClr val="FFFFFF"/>
                </a:solidFill>
                <a:latin typeface="Google Sans"/>
              </a:defRPr>
            </a:pPr>
            <a:r>
              <a:t>LANE 2: AI INTELLIGENCE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400000" y="3340000"/>
            <a:ext cx="1500000" cy="26000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5400"/>
          <a:lstStyle/>
          <a:p>
            <a:pPr algn="ctr">
              <a:defRPr sz="750" b="1">
                <a:solidFill>
                  <a:srgbClr val="FFFFFF"/>
                </a:solidFill>
                <a:latin typeface="Google Sans"/>
              </a:defRPr>
            </a:pPr>
            <a:r>
              <a:t>LANE 3: OFFICER WORKFLOW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2000000" y="1200000"/>
            <a:ext cx="1700000" cy="86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tIns="76200"/>
          <a:lstStyle/>
          <a:p>
            <a:pPr algn="ctr">
              <a:defRPr sz="900" b="1">
                <a:solidFill>
                  <a:srgbClr val="0F172A"/>
                </a:solidFill>
                <a:latin typeface="Google Sans"/>
              </a:defRPr>
            </a:pPr>
            <a:r>
              <a:t>🌍 1. Open Aerify AI</a:t>
            </a:r>
          </a:p>
          <a:p>
            <a:pPr>
              <a:defRPr sz="750">
                <a:solidFill>
                  <a:srgbClr val="475569"/>
                </a:solidFill>
                <a:latin typeface="Google Sans"/>
              </a:defRPr>
            </a:pPr>
            <a:r>
              <a:t>• No login required</a:t>
            </a:r>
            <a:br/>
            <a:r>
              <a:t>• Instant auto-GPS detection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3950000" y="1200000"/>
            <a:ext cx="1850000" cy="86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tIns="76200"/>
          <a:lstStyle/>
          <a:p>
            <a:pPr algn="ctr">
              <a:defRPr sz="900" b="1">
                <a:solidFill>
                  <a:srgbClr val="0F172A"/>
                </a:solidFill>
                <a:latin typeface="Google Sans"/>
              </a:defRPr>
            </a:pPr>
            <a:r>
              <a:t>📍 2. Explore Local AQI</a:t>
            </a:r>
          </a:p>
          <a:p>
            <a:pPr>
              <a:defRPr sz="750">
                <a:solidFill>
                  <a:srgbClr val="475569"/>
                </a:solidFill>
                <a:latin typeface="Google Sans"/>
              </a:defRPr>
            </a:pPr>
            <a:r>
              <a:t>• Street AQI &amp; 6 chemicals</a:t>
            </a:r>
            <a:br/>
            <a:r>
              <a:t>• Pollen allergy risk &amp; weather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6050000" y="1200000"/>
            <a:ext cx="1850000" cy="860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tIns="76200"/>
          <a:lstStyle/>
          <a:p>
            <a:pPr algn="ctr">
              <a:defRPr sz="900" b="1">
                <a:solidFill>
                  <a:srgbClr val="15803D"/>
                </a:solidFill>
                <a:latin typeface="Google Sans"/>
              </a:defRPr>
            </a:pPr>
            <a:r>
              <a:t>🏛️ 3. View Govt Actions</a:t>
            </a:r>
          </a:p>
          <a:p>
            <a:pPr>
              <a:defRPr sz="750">
                <a:solidFill>
                  <a:srgbClr val="475569"/>
                </a:solidFill>
                <a:latin typeface="Google Sans"/>
              </a:defRPr>
            </a:pPr>
            <a:r>
              <a:t>• Active orders (Odd-Even)</a:t>
            </a:r>
            <a:br/>
            <a:r>
              <a:t>• Verified clean-up outcomes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400000" y="1520000"/>
            <a:ext cx="1450000" cy="6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tIns="50800"/>
          <a:lstStyle/>
          <a:p>
            <a:pPr algn="ctr">
              <a:defRPr sz="750" b="1">
                <a:solidFill>
                  <a:srgbClr val="1E293B"/>
                </a:solidFill>
                <a:latin typeface="Google Sans"/>
              </a:defRPr>
            </a:pPr>
            <a:r>
              <a:t>🔐 Optional Google Login</a:t>
            </a:r>
          </a:p>
          <a:p>
            <a:pPr>
              <a:defRPr sz="700">
                <a:solidFill>
                  <a:srgbClr val="166534"/>
                </a:solidFill>
                <a:latin typeface="Google Sans"/>
              </a:defRPr>
            </a:pPr>
            <a:r>
              <a:t>📌 Pin &amp; Monitor Places</a:t>
            </a:r>
          </a:p>
        </p:txBody>
      </p:sp>
      <p:cxnSp>
        <p:nvCxnSpPr>
          <p:cNvPr id="107" name="Connector 106"/>
          <p:cNvCxnSpPr/>
          <p:nvPr/>
        </p:nvCxnSpPr>
        <p:spPr>
          <a:xfrm>
            <a:off x="3700000" y="1630000"/>
            <a:ext cx="250000" cy="0"/>
          </a:xfrm>
          <a:prstGeom prst="line">
            <a:avLst/>
          </a:prstGeom>
          <a:ln w="19050">
            <a:solidFill>
              <a:srgbClr val="4285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>
            <a:off x="5800000" y="1630000"/>
            <a:ext cx="250000" cy="0"/>
          </a:xfrm>
          <a:prstGeom prst="line">
            <a:avLst/>
          </a:prstGeom>
          <a:ln w="19050">
            <a:solidFill>
              <a:srgbClr val="4285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Rounded Rectangle 108"/>
          <p:cNvSpPr/>
          <p:nvPr/>
        </p:nvSpPr>
        <p:spPr>
          <a:xfrm>
            <a:off x="2000000" y="2350000"/>
            <a:ext cx="1800000" cy="78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tIns="63500"/>
          <a:lstStyle/>
          <a:p>
            <a:pPr algn="ctr">
              <a:defRPr sz="850" b="1">
                <a:solidFill>
                  <a:srgbClr val="0F172A"/>
                </a:solidFill>
                <a:latin typeface="Google Sans"/>
              </a:defRPr>
            </a:pPr>
            <a:r>
              <a:t>📡 1. Collect Evidence</a:t>
            </a:r>
          </a:p>
          <a:p>
            <a:pPr>
              <a:defRPr sz="750">
                <a:solidFill>
                  <a:srgbClr val="475569"/>
                </a:solidFill>
                <a:latin typeface="Google Sans"/>
              </a:defRPr>
            </a:pPr>
            <a:r>
              <a:t>• Google 500m satellite grid</a:t>
            </a:r>
            <a:br/>
            <a:r>
              <a:t>• CPCB stations &amp; weather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4050000" y="2350000"/>
            <a:ext cx="1800000" cy="78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tIns="63500"/>
          <a:lstStyle/>
          <a:p>
            <a:pPr algn="ctr">
              <a:defRPr sz="850" b="1">
                <a:solidFill>
                  <a:srgbClr val="0F172A"/>
                </a:solidFill>
                <a:latin typeface="Google Sans"/>
              </a:defRPr>
            </a:pPr>
            <a:r>
              <a:t>🧠 2. Analyze &amp; Cross-Check</a:t>
            </a:r>
          </a:p>
          <a:p>
            <a:pPr>
              <a:defRPr sz="750">
                <a:solidFill>
                  <a:srgbClr val="475569"/>
                </a:solidFill>
                <a:latin typeface="Google Sans"/>
              </a:defRPr>
            </a:pPr>
            <a:r>
              <a:t>• Identify pollution hotspots</a:t>
            </a:r>
            <a:br/>
            <a:r>
              <a:t>• Cross-check wind &amp; rain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6100000" y="2350000"/>
            <a:ext cx="1950000" cy="78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tIns="63500"/>
          <a:lstStyle/>
          <a:p>
            <a:pPr algn="ctr">
              <a:defRPr sz="850" b="1">
                <a:solidFill>
                  <a:srgbClr val="6D28D9"/>
                </a:solidFill>
                <a:latin typeface="Google Sans"/>
              </a:defRPr>
            </a:pPr>
            <a:r>
              <a:t>🎯 3. Recommend Actions</a:t>
            </a:r>
          </a:p>
          <a:p>
            <a:pPr>
              <a:defRPr sz="750">
                <a:solidFill>
                  <a:srgbClr val="475569"/>
                </a:solidFill>
                <a:latin typeface="Google Sans"/>
              </a:defRPr>
            </a:pPr>
            <a:r>
              <a:t>• Target priority corridors</a:t>
            </a:r>
            <a:br/>
            <a:r>
              <a:t>• Suggest guns/sweepers</a:t>
            </a:r>
          </a:p>
        </p:txBody>
      </p:sp>
      <p:cxnSp>
        <p:nvCxnSpPr>
          <p:cNvPr id="112" name="Connector 111"/>
          <p:cNvCxnSpPr/>
          <p:nvPr/>
        </p:nvCxnSpPr>
        <p:spPr>
          <a:xfrm>
            <a:off x="3800000" y="2740000"/>
            <a:ext cx="250000" cy="0"/>
          </a:xfrm>
          <a:prstGeom prst="line">
            <a:avLst/>
          </a:prstGeom>
          <a:ln w="1905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>
            <a:off x="5850000" y="2740000"/>
            <a:ext cx="250000" cy="0"/>
          </a:xfrm>
          <a:prstGeom prst="line">
            <a:avLst/>
          </a:prstGeom>
          <a:ln w="1905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>
            <a:off x="7070000" y="3130000"/>
            <a:ext cx="0" cy="220000"/>
          </a:xfrm>
          <a:prstGeom prst="line">
            <a:avLst/>
          </a:prstGeom>
          <a:ln w="1905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5" name="Rounded Rectangle 114"/>
          <p:cNvSpPr/>
          <p:nvPr/>
        </p:nvSpPr>
        <p:spPr>
          <a:xfrm>
            <a:off x="400000" y="3400000"/>
            <a:ext cx="1300000" cy="780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tIns="50800"/>
          <a:lstStyle/>
          <a:p>
            <a:pPr algn="ctr">
              <a:defRPr sz="800" b="1">
                <a:solidFill>
                  <a:srgbClr val="0F172A"/>
                </a:solidFill>
                <a:latin typeface="Google Sans"/>
              </a:defRPr>
            </a:pPr>
            <a:r>
              <a:t>🔑 1. Officer Login</a:t>
            </a:r>
          </a:p>
          <a:p>
            <a:pPr>
              <a:defRPr sz="700">
                <a:solidFill>
                  <a:srgbClr val="475569"/>
                </a:solidFill>
                <a:latin typeface="Google Sans"/>
              </a:defRPr>
            </a:pPr>
            <a:r>
              <a:t>Official Gov ID</a:t>
            </a:r>
            <a:br/>
            <a:r>
              <a:t>@mcd.delhi.gov.in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1900000" y="3400000"/>
            <a:ext cx="1300000" cy="780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tIns="50800"/>
          <a:lstStyle/>
          <a:p>
            <a:pPr algn="ctr">
              <a:defRPr sz="800" b="1">
                <a:solidFill>
                  <a:srgbClr val="0F172A"/>
                </a:solidFill>
                <a:latin typeface="Google Sans"/>
              </a:defRPr>
            </a:pPr>
            <a:r>
              <a:t>📋 2. Review Recs</a:t>
            </a:r>
          </a:p>
          <a:p>
            <a:pPr>
              <a:defRPr sz="700">
                <a:solidFill>
                  <a:srgbClr val="475569"/>
                </a:solidFill>
                <a:latin typeface="Google Sans"/>
              </a:defRPr>
            </a:pPr>
            <a:r>
              <a:t>Examine hotspot</a:t>
            </a:r>
            <a:br/>
            <a:r>
              <a:t>&amp; plume evidence</a:t>
            </a:r>
          </a:p>
        </p:txBody>
      </p:sp>
      <p:sp>
        <p:nvSpPr>
          <p:cNvPr id="117" name="Rounded Rectangle 116"/>
          <p:cNvSpPr/>
          <p:nvPr/>
        </p:nvSpPr>
        <p:spPr>
          <a:xfrm>
            <a:off x="3400000" y="3400000"/>
            <a:ext cx="1300000" cy="780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tIns="50800"/>
          <a:lstStyle/>
          <a:p>
            <a:pPr algn="ctr">
              <a:defRPr sz="800" b="1">
                <a:solidFill>
                  <a:srgbClr val="0F172A"/>
                </a:solidFill>
                <a:latin typeface="Google Sans"/>
              </a:defRPr>
            </a:pPr>
            <a:r>
              <a:t>✅ 3. Approve Action</a:t>
            </a:r>
          </a:p>
          <a:p>
            <a:pPr>
              <a:defRPr sz="700">
                <a:solidFill>
                  <a:srgbClr val="475569"/>
                </a:solidFill>
                <a:latin typeface="Google Sans"/>
              </a:defRPr>
            </a:pPr>
            <a:r>
              <a:t>Approve, modify</a:t>
            </a:r>
            <a:br/>
            <a:r>
              <a:t>&amp; set equipment</a:t>
            </a:r>
          </a:p>
        </p:txBody>
      </p:sp>
      <p:sp>
        <p:nvSpPr>
          <p:cNvPr id="118" name="Rounded Rectangle 117"/>
          <p:cNvSpPr/>
          <p:nvPr/>
        </p:nvSpPr>
        <p:spPr>
          <a:xfrm>
            <a:off x="4900000" y="3400000"/>
            <a:ext cx="1300000" cy="780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tIns="50800"/>
          <a:lstStyle/>
          <a:p>
            <a:pPr algn="ctr">
              <a:defRPr sz="800" b="1">
                <a:solidFill>
                  <a:srgbClr val="0F172A"/>
                </a:solidFill>
                <a:latin typeface="Google Sans"/>
              </a:defRPr>
            </a:pPr>
            <a:r>
              <a:t>⏱️ 4. Track Timers</a:t>
            </a:r>
          </a:p>
          <a:p>
            <a:pPr>
              <a:defRPr sz="700">
                <a:solidFill>
                  <a:srgbClr val="475569"/>
                </a:solidFill>
                <a:latin typeface="Google Sans"/>
              </a:defRPr>
            </a:pPr>
            <a:r>
              <a:t>+15s, +3h, +6h, +24h</a:t>
            </a:r>
            <a:br/>
            <a:r>
              <a:t>cloud polling</a:t>
            </a:r>
          </a:p>
        </p:txBody>
      </p:sp>
      <p:sp>
        <p:nvSpPr>
          <p:cNvPr id="119" name="Rounded Rectangle 118"/>
          <p:cNvSpPr/>
          <p:nvPr/>
        </p:nvSpPr>
        <p:spPr>
          <a:xfrm>
            <a:off x="6400000" y="3400000"/>
            <a:ext cx="1300000" cy="780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tIns="50800"/>
          <a:lstStyle/>
          <a:p>
            <a:pPr algn="ctr">
              <a:defRPr sz="800" b="1">
                <a:solidFill>
                  <a:srgbClr val="0F172A"/>
                </a:solidFill>
                <a:latin typeface="Google Sans"/>
              </a:defRPr>
            </a:pPr>
            <a:r>
              <a:t>📊 5. Causal DiD</a:t>
            </a:r>
          </a:p>
          <a:p>
            <a:pPr>
              <a:defRPr sz="700">
                <a:solidFill>
                  <a:srgbClr val="475569"/>
                </a:solidFill>
                <a:latin typeface="Google Sans"/>
              </a:defRPr>
            </a:pPr>
            <a:r>
              <a:t>Treated vs Control</a:t>
            </a:r>
            <a:br/>
            <a:r>
              <a:t>subtract weather</a:t>
            </a:r>
          </a:p>
        </p:txBody>
      </p:sp>
      <p:cxnSp>
        <p:nvCxnSpPr>
          <p:cNvPr id="120" name="Connector 119"/>
          <p:cNvCxnSpPr/>
          <p:nvPr/>
        </p:nvCxnSpPr>
        <p:spPr>
          <a:xfrm>
            <a:off x="1700000" y="3790000"/>
            <a:ext cx="200000" cy="0"/>
          </a:xfrm>
          <a:prstGeom prst="line">
            <a:avLst/>
          </a:prstGeom>
          <a:ln w="19050">
            <a:solidFill>
              <a:srgbClr val="D9770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>
            <a:off x="3200000" y="3790000"/>
            <a:ext cx="200000" cy="0"/>
          </a:xfrm>
          <a:prstGeom prst="line">
            <a:avLst/>
          </a:prstGeom>
          <a:ln w="19050">
            <a:solidFill>
              <a:srgbClr val="D9770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>
            <a:off x="4700000" y="3790000"/>
            <a:ext cx="200000" cy="0"/>
          </a:xfrm>
          <a:prstGeom prst="line">
            <a:avLst/>
          </a:prstGeom>
          <a:ln w="19050">
            <a:solidFill>
              <a:srgbClr val="D9770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>
            <a:off x="6200000" y="3790000"/>
            <a:ext cx="200000" cy="0"/>
          </a:xfrm>
          <a:prstGeom prst="line">
            <a:avLst/>
          </a:prstGeom>
          <a:ln w="19050">
            <a:solidFill>
              <a:srgbClr val="D9770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4" name="Diamond 123"/>
          <p:cNvSpPr/>
          <p:nvPr/>
        </p:nvSpPr>
        <p:spPr>
          <a:xfrm>
            <a:off x="3800000" y="4280000"/>
            <a:ext cx="1500000" cy="650000"/>
          </a:xfrm>
          <a:prstGeom prst="diamond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50" b="1">
                <a:solidFill>
                  <a:srgbClr val="0F172A"/>
                </a:solidFill>
                <a:latin typeface="Google Sans"/>
              </a:defRPr>
            </a:pPr>
            <a:r>
              <a:t>Evidence Valid?</a:t>
            </a:r>
          </a:p>
        </p:txBody>
      </p:sp>
      <p:cxnSp>
        <p:nvCxnSpPr>
          <p:cNvPr id="125" name="Connector 124"/>
          <p:cNvCxnSpPr/>
          <p:nvPr/>
        </p:nvCxnSpPr>
        <p:spPr>
          <a:xfrm flipH="1">
            <a:off x="5300000" y="4180000"/>
            <a:ext cx="1750000" cy="420000"/>
          </a:xfrm>
          <a:prstGeom prst="line">
            <a:avLst/>
          </a:prstGeom>
          <a:ln w="19050">
            <a:solidFill>
              <a:srgbClr val="D9770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6" name="Rounded Rectangle 125"/>
          <p:cNvSpPr/>
          <p:nvPr/>
        </p:nvSpPr>
        <p:spPr>
          <a:xfrm>
            <a:off x="5800000" y="4300000"/>
            <a:ext cx="2400000" cy="60000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tIns="50800"/>
          <a:lstStyle/>
          <a:p>
            <a:pPr algn="ctr">
              <a:defRPr sz="800" b="1">
                <a:solidFill>
                  <a:srgbClr val="15803D"/>
                </a:solidFill>
                <a:latin typeface="Google Sans"/>
              </a:defRPr>
            </a:pPr>
            <a:r>
              <a:t>YES ➔ 🟢 Publish Verified Outcome</a:t>
            </a:r>
          </a:p>
          <a:p>
            <a:pPr>
              <a:defRPr sz="700">
                <a:solidFill>
                  <a:srgbClr val="475569"/>
                </a:solidFill>
                <a:latin typeface="Google Sans"/>
              </a:defRPr>
            </a:pPr>
            <a:r>
              <a:t>Public status updated • Real AQI delta shown</a:t>
            </a:r>
          </a:p>
        </p:txBody>
      </p:sp>
      <p:sp>
        <p:nvSpPr>
          <p:cNvPr id="127" name="Rounded Rectangle 126"/>
          <p:cNvSpPr/>
          <p:nvPr/>
        </p:nvSpPr>
        <p:spPr>
          <a:xfrm>
            <a:off x="900000" y="4300000"/>
            <a:ext cx="2400000" cy="60000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A43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tIns="50800"/>
          <a:lstStyle/>
          <a:p>
            <a:pPr algn="ctr">
              <a:defRPr sz="800" b="1">
                <a:solidFill>
                  <a:srgbClr val="B91C1C"/>
                </a:solidFill>
                <a:latin typeface="Google Sans"/>
              </a:defRPr>
            </a:pPr>
            <a:r>
              <a:t>NO ➔ 🟠 Follow-Up Required</a:t>
            </a:r>
          </a:p>
          <a:p>
            <a:pPr>
              <a:defRPr sz="700">
                <a:solidFill>
                  <a:srgbClr val="475569"/>
                </a:solidFill>
                <a:latin typeface="Google Sans"/>
              </a:defRPr>
            </a:pPr>
            <a:r>
              <a:t>Request reassessment • No false claim issued</a:t>
            </a:r>
          </a:p>
        </p:txBody>
      </p:sp>
      <p:cxnSp>
        <p:nvCxnSpPr>
          <p:cNvPr id="128" name="Connector 127"/>
          <p:cNvCxnSpPr/>
          <p:nvPr/>
        </p:nvCxnSpPr>
        <p:spPr>
          <a:xfrm>
            <a:off x="5300000" y="4600000"/>
            <a:ext cx="500000" cy="0"/>
          </a:xfrm>
          <a:prstGeom prst="line">
            <a:avLst/>
          </a:prstGeom>
          <a:ln w="19050">
            <a:solidFill>
              <a:srgbClr val="34A8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 flipH="1">
            <a:off x="3300000" y="4600000"/>
            <a:ext cx="500000" cy="0"/>
          </a:xfrm>
          <a:prstGeom prst="line">
            <a:avLst/>
          </a:prstGeom>
          <a:ln w="19050">
            <a:solidFill>
              <a:srgbClr val="EA43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 flipV="1">
            <a:off x="7200000" y="2060000"/>
            <a:ext cx="0" cy="2240000"/>
          </a:xfrm>
          <a:prstGeom prst="line">
            <a:avLst/>
          </a:prstGeom>
          <a:ln w="19050">
            <a:solidFill>
              <a:srgbClr val="34A8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9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9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9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9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Wireframes/Mock diagrams of the proposed solution (optional)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20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20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20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20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Architecture diagram of the proposed solution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21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21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21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21"/>
          <p:cNvSpPr txBox="1"/>
          <p:nvPr/>
        </p:nvSpPr>
        <p:spPr>
          <a:xfrm>
            <a:off x="400000" y="540000"/>
            <a:ext cx="8344000" cy="6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  <a:defRPr sz="2100" b="1">
                <a:solidFill>
                  <a:srgbClr val="0F172A"/>
                </a:solidFill>
                <a:latin typeface="Google Sans"/>
              </a:defRPr>
            </a:pPr>
            <a:r>
              <a:t>Technologies to be used in the solution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>
              <a:defRPr sz="850" b="1">
                <a:solidFill>
                  <a:srgbClr val="64748B"/>
                </a:solidFill>
                <a:latin typeface="Google Sans"/>
              </a:defRPr>
            </a:pPr>
            <a:r>
              <a:t>THE 4 CORE PILLARS OF AERIFY AI: TOOLS, TECH ICONS &amp; ONE-LINE PURPOSES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0" y="507359"/>
            <a:ext cx="9144000" cy="4636141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ounded Rectangle 120"/>
          <p:cNvSpPr/>
          <p:nvPr/>
        </p:nvSpPr>
        <p:spPr>
          <a:xfrm>
            <a:off x="400000" y="1260000"/>
            <a:ext cx="4000000" cy="1660000"/>
          </a:xfrm>
          <a:prstGeom prst="roundRect">
            <a:avLst/>
          </a:prstGeom>
          <a:solidFill>
            <a:srgbClr val="F0F7FF"/>
          </a:solidFill>
          <a:ln w="22225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27000" rIns="152400" bIns="101600"/>
          <a:lstStyle/>
          <a:p>
            <a:pPr algn="ctr">
              <a:spcAft>
                <a:spcPts val="200"/>
              </a:spcAft>
              <a:defRPr sz="800" b="1">
                <a:solidFill>
                  <a:srgbClr val="1D4ED8"/>
                </a:solidFill>
                <a:latin typeface="Google Sans"/>
              </a:defRPr>
            </a:pPr>
            <a:r>
              <a:t>01 // FRONTEND &amp; UI</a:t>
            </a:r>
          </a:p>
          <a:p>
            <a:pPr>
              <a:spcAft>
                <a:spcPts val="500"/>
              </a:spcAft>
              <a:defRPr sz="1200" b="1">
                <a:solidFill>
                  <a:srgbClr val="0F172A"/>
                </a:solidFill>
                <a:latin typeface="Google Sans"/>
              </a:defRPr>
            </a:pPr>
            <a:r>
              <a:t>Interactive Vector Mapping &amp; Civic UI</a:t>
            </a:r>
          </a:p>
          <a:p>
            <a:pPr>
              <a:spcAft>
                <a:spcPts val="200"/>
              </a:spcAft>
              <a:defRPr sz="880" b="1">
                <a:solidFill>
                  <a:srgbClr val="1E293B"/>
                </a:solidFill>
                <a:latin typeface="Google Sans"/>
              </a:defRPr>
            </a:pPr>
            <a:r>
              <a:t>⚛️ React 19   ·   ⚡ Vite &amp; TypeScript   ·   🎨 Tailwind CSS</a:t>
            </a:r>
          </a:p>
          <a:p>
            <a:pPr>
              <a:spcAft>
                <a:spcPts val="200"/>
              </a:spcAft>
              <a:defRPr sz="880" b="1">
                <a:solidFill>
                  <a:srgbClr val="1E293B"/>
                </a:solidFill>
                <a:latin typeface="Google Sans"/>
              </a:defRPr>
            </a:pPr>
            <a:r>
              <a:t>🗺️ Google Maps JavaScript SDK (@vis.gl/react-google-maps)</a:t>
            </a:r>
          </a:p>
          <a:p>
            <a:pPr>
              <a:spcBef>
                <a:spcPts val="300"/>
              </a:spcBef>
            </a:pPr>
            <a:r>
              <a:rPr sz="850" b="1">
                <a:solidFill>
                  <a:srgbClr val="4285F4"/>
                </a:solidFill>
                <a:latin typeface="Google Sans"/>
              </a:rPr>
              <a:t>💡 Purpose: </a:t>
            </a:r>
            <a:r>
              <a:rPr sz="850">
                <a:solidFill>
                  <a:srgbClr val="475569"/>
                </a:solidFill>
                <a:latin typeface="Google Sans"/>
              </a:rPr>
              <a:t>Renders interactive 3D vector map, persistent Near You street cards, and SVG rolling trend line graphs.</a:t>
            </a:r>
          </a:p>
        </p:txBody>
      </p:sp>
      <p:sp>
        <p:nvSpPr>
          <p:cNvPr id="122" name="Rounded Rectangle 121"/>
          <p:cNvSpPr/>
          <p:nvPr/>
        </p:nvSpPr>
        <p:spPr>
          <a:xfrm>
            <a:off x="4744000" y="1260000"/>
            <a:ext cx="4000000" cy="1660000"/>
          </a:xfrm>
          <a:prstGeom prst="roundRect">
            <a:avLst/>
          </a:prstGeom>
          <a:solidFill>
            <a:srgbClr val="F5F3FF"/>
          </a:solidFill>
          <a:ln w="22225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27000" rIns="152400" bIns="101600"/>
          <a:lstStyle/>
          <a:p>
            <a:pPr algn="ctr">
              <a:spcAft>
                <a:spcPts val="200"/>
              </a:spcAft>
              <a:defRPr sz="800" b="1">
                <a:solidFill>
                  <a:srgbClr val="6D28D9"/>
                </a:solidFill>
                <a:latin typeface="Google Sans"/>
              </a:defRPr>
            </a:pPr>
            <a:r>
              <a:t>02 // AI &amp; GENERATIVE INTELLIGENCE</a:t>
            </a:r>
          </a:p>
          <a:p>
            <a:pPr>
              <a:spcAft>
                <a:spcPts val="500"/>
              </a:spcAft>
              <a:defRPr sz="1200" b="1">
                <a:solidFill>
                  <a:srgbClr val="0F172A"/>
                </a:solidFill>
                <a:latin typeface="Google Sans"/>
              </a:defRPr>
            </a:pPr>
            <a:r>
              <a:t>Vertex AI &amp; Autonomous Briefings</a:t>
            </a:r>
          </a:p>
          <a:p>
            <a:pPr>
              <a:spcAft>
                <a:spcPts val="200"/>
              </a:spcAft>
              <a:defRPr sz="880" b="1">
                <a:solidFill>
                  <a:srgbClr val="1E293B"/>
                </a:solidFill>
                <a:latin typeface="Google Sans"/>
              </a:defRPr>
            </a:pPr>
            <a:r>
              <a:t>☁️ Google Cloud Vertex AI   ·   🤖 Gemini 2.5 Flash-Lite</a:t>
            </a:r>
          </a:p>
          <a:p>
            <a:pPr>
              <a:spcAft>
                <a:spcPts val="200"/>
              </a:spcAft>
              <a:defRPr sz="880" b="1">
                <a:solidFill>
                  <a:srgbClr val="1E293B"/>
                </a:solidFill>
                <a:latin typeface="Google Sans"/>
              </a:defRPr>
            </a:pPr>
            <a:r>
              <a:t>🔌 Model Context Protocol (MCP)   ·   📋 Structured JSON Schemas</a:t>
            </a:r>
          </a:p>
          <a:p>
            <a:pPr>
              <a:spcBef>
                <a:spcPts val="300"/>
              </a:spcBef>
            </a:pPr>
            <a:r>
              <a:rPr sz="850" b="1">
                <a:solidFill>
                  <a:srgbClr val="7C3AED"/>
                </a:solidFill>
                <a:latin typeface="Google Sans"/>
              </a:rPr>
              <a:t>💡 Purpose: </a:t>
            </a:r>
            <a:r>
              <a:rPr sz="850">
                <a:solidFill>
                  <a:srgbClr val="475569"/>
                </a:solidFill>
                <a:latin typeface="Google Sans"/>
              </a:rPr>
              <a:t>Generates plain-English executive briefings, plume explanations, and verifies statutory gazette circulars.</a:t>
            </a:r>
          </a:p>
        </p:txBody>
      </p:sp>
      <p:sp>
        <p:nvSpPr>
          <p:cNvPr id="123" name="Rounded Rectangle 122"/>
          <p:cNvSpPr/>
          <p:nvPr/>
        </p:nvSpPr>
        <p:spPr>
          <a:xfrm>
            <a:off x="400000" y="3060000"/>
            <a:ext cx="4000000" cy="1660000"/>
          </a:xfrm>
          <a:prstGeom prst="roundRect">
            <a:avLst/>
          </a:prstGeom>
          <a:solidFill>
            <a:srgbClr val="F0FDF4"/>
          </a:solidFill>
          <a:ln w="22225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27000" rIns="152400" bIns="101600"/>
          <a:lstStyle/>
          <a:p>
            <a:pPr algn="ctr">
              <a:spcAft>
                <a:spcPts val="200"/>
              </a:spcAft>
              <a:defRPr sz="800" b="1">
                <a:solidFill>
                  <a:srgbClr val="15803D"/>
                </a:solidFill>
                <a:latin typeface="Google Sans"/>
              </a:defRPr>
            </a:pPr>
            <a:r>
              <a:t>03 // ENVIRONMENTAL TELEMETRY</a:t>
            </a:r>
          </a:p>
          <a:p>
            <a:pPr>
              <a:spcAft>
                <a:spcPts val="500"/>
              </a:spcAft>
              <a:defRPr sz="1200" b="1">
                <a:solidFill>
                  <a:srgbClr val="0F172A"/>
                </a:solidFill>
                <a:latin typeface="Google Sans"/>
              </a:defRPr>
            </a:pPr>
            <a:r>
              <a:t>Hyper-Local Continuous Telemetry</a:t>
            </a:r>
          </a:p>
          <a:p>
            <a:pPr>
              <a:spcAft>
                <a:spcPts val="200"/>
              </a:spcAft>
              <a:defRPr sz="880" b="1">
                <a:solidFill>
                  <a:srgbClr val="1E293B"/>
                </a:solidFill>
                <a:latin typeface="Google Sans"/>
              </a:defRPr>
            </a:pPr>
            <a:r>
              <a:t>💨 Google Air Quality API (500m &amp; 30d History)   ·   🌸 Pollen API</a:t>
            </a:r>
          </a:p>
          <a:p>
            <a:pPr>
              <a:spcAft>
                <a:spcPts val="200"/>
              </a:spcAft>
              <a:defRPr sz="880" b="1">
                <a:solidFill>
                  <a:srgbClr val="1E293B"/>
                </a:solidFill>
                <a:latin typeface="Google Sans"/>
              </a:defRPr>
            </a:pPr>
            <a:r>
              <a:t>🌦️ Google Weather API (Wind Vectors)   ·   🛰️ Sentinel-5P Satellite</a:t>
            </a:r>
          </a:p>
          <a:p>
            <a:pPr>
              <a:spcBef>
                <a:spcPts val="300"/>
              </a:spcBef>
            </a:pPr>
            <a:r>
              <a:rPr sz="850" b="1">
                <a:solidFill>
                  <a:srgbClr val="34A853"/>
                </a:solidFill>
                <a:latin typeface="Google Sans"/>
              </a:rPr>
              <a:t>💡 Purpose: </a:t>
            </a:r>
            <a:r>
              <a:rPr sz="850">
                <a:solidFill>
                  <a:srgbClr val="475569"/>
                </a:solidFill>
                <a:latin typeface="Google Sans"/>
              </a:rPr>
              <a:t>Delivers continuous 500m street ground truth, 30-day hourly history, and 3-day respiratory risk forecasts.</a:t>
            </a:r>
          </a:p>
        </p:txBody>
      </p:sp>
      <p:sp>
        <p:nvSpPr>
          <p:cNvPr id="124" name="Rounded Rectangle 123"/>
          <p:cNvSpPr/>
          <p:nvPr/>
        </p:nvSpPr>
        <p:spPr>
          <a:xfrm>
            <a:off x="4744000" y="3060000"/>
            <a:ext cx="4000000" cy="1660000"/>
          </a:xfrm>
          <a:prstGeom prst="roundRect">
            <a:avLst/>
          </a:prstGeom>
          <a:solidFill>
            <a:srgbClr val="FEF2F2"/>
          </a:solidFill>
          <a:ln w="22225">
            <a:solidFill>
              <a:srgbClr val="EA43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27000" rIns="152400" bIns="101600"/>
          <a:lstStyle/>
          <a:p>
            <a:pPr algn="ctr">
              <a:spcAft>
                <a:spcPts val="200"/>
              </a:spcAft>
              <a:defRPr sz="800" b="1">
                <a:solidFill>
                  <a:srgbClr val="B91C1C"/>
                </a:solidFill>
                <a:latin typeface="Google Sans"/>
              </a:defRPr>
            </a:pPr>
            <a:r>
              <a:t>04 // DATA, SPATIAL &amp; SECURITY</a:t>
            </a:r>
          </a:p>
          <a:p>
            <a:pPr>
              <a:spcAft>
                <a:spcPts val="500"/>
              </a:spcAft>
              <a:defRPr sz="1200" b="1">
                <a:solidFill>
                  <a:srgbClr val="0F172A"/>
                </a:solidFill>
                <a:latin typeface="Google Sans"/>
              </a:defRPr>
            </a:pPr>
            <a:r>
              <a:t>PostGIS Spatial &amp; Zero-Password IAM</a:t>
            </a:r>
          </a:p>
          <a:p>
            <a:pPr>
              <a:spcAft>
                <a:spcPts val="200"/>
              </a:spcAft>
              <a:defRPr sz="880" b="1">
                <a:solidFill>
                  <a:srgbClr val="1E293B"/>
                </a:solidFill>
                <a:latin typeface="Google Sans"/>
              </a:defRPr>
            </a:pPr>
            <a:r>
              <a:t>🐘 Cloud SQL for PostgreSQL 16   ·   🌍 PostGIS Geospatial Engine</a:t>
            </a:r>
          </a:p>
          <a:p>
            <a:pPr>
              <a:spcAft>
                <a:spcPts val="200"/>
              </a:spcAft>
              <a:defRPr sz="880" b="1">
                <a:solidFill>
                  <a:srgbClr val="1E293B"/>
                </a:solidFill>
                <a:latin typeface="Google Sans"/>
              </a:defRPr>
            </a:pPr>
            <a:r>
              <a:t>🛡️ Firebase Google OAuth   ·   🔑 Cloud IAM (Zero-Static Passwords)</a:t>
            </a:r>
          </a:p>
          <a:p>
            <a:pPr>
              <a:spcBef>
                <a:spcPts val="300"/>
              </a:spcBef>
            </a:pPr>
            <a:r>
              <a:rPr sz="850" b="1">
                <a:solidFill>
                  <a:srgbClr val="EA4335"/>
                </a:solidFill>
                <a:latin typeface="Google Sans"/>
              </a:rPr>
              <a:t>💡 Purpose: </a:t>
            </a:r>
            <a:r>
              <a:rPr sz="850">
                <a:solidFill>
                  <a:srgbClr val="475569"/>
                </a:solidFill>
                <a:latin typeface="Google Sans"/>
              </a:rPr>
              <a:t>Secures municipal action plans and boundaries with zero static passwords and dual-path citizen/officer RBAC.</a:t>
            </a:r>
          </a:p>
        </p:txBody>
      </p:sp>
      <p:sp>
        <p:nvSpPr>
          <p:cNvPr id="125" name="Rounded Rectangle 124"/>
          <p:cNvSpPr/>
          <p:nvPr/>
        </p:nvSpPr>
        <p:spPr>
          <a:xfrm>
            <a:off x="400000" y="4760000"/>
            <a:ext cx="8344000" cy="260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tIns="38100" rIns="127000" bIns="38100"/>
          <a:lstStyle/>
          <a:p>
            <a:pPr algn="ctr"/>
            <a:r>
              <a:rPr sz="850" b="1">
                <a:solidFill>
                  <a:srgbClr val="1A73E8"/>
                </a:solidFill>
                <a:latin typeface="Google Sans"/>
              </a:rPr>
              <a:t>☁️ Google Cloud Ecosystem | </a:t>
            </a:r>
            <a:r>
              <a:rPr sz="850">
                <a:solidFill>
                  <a:srgbClr val="334155"/>
                </a:solidFill>
                <a:latin typeface="Google Sans"/>
              </a:rPr>
              <a:t>Zero Static Database Passwords (IAM Connector) • Serverless Cloud Run • 100% Contract Validated (validate_contracts.py)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22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22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22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22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Estimated implementation cost (optional)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23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23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23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23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Snapshots of the prototype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24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24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24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24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Prototype Performance report/Benchmarking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25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25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25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25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Additional Details/Future Development (if any)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26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26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26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26"/>
          <p:cNvSpPr txBox="1"/>
          <p:nvPr/>
        </p:nvSpPr>
        <p:spPr>
          <a:xfrm>
            <a:off x="265350" y="663825"/>
            <a:ext cx="8943000" cy="133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Provide links to your: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Google Sans Flex Medium"/>
              <a:buChar char="●"/>
            </a:pPr>
            <a:r>
              <a:rPr lang="en-GB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GitHub Public Repository</a:t>
            </a:r>
            <a:endParaRPr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Google Sans Flex Medium"/>
              <a:buChar char="●"/>
            </a:pPr>
            <a:r>
              <a:rPr lang="en-GB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Demo Video Link (3 Minutes)</a:t>
            </a:r>
            <a:endParaRPr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Google Sans Flex Medium"/>
              <a:buChar char="●"/>
            </a:pPr>
            <a:r>
              <a:rPr lang="en-GB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Final Product Link</a:t>
            </a:r>
            <a:endParaRPr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27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27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27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28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8" title="Frame 145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9144000" cy="51435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